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Montserrat SemiBold"/>
      <p:regular r:id="rId19"/>
      <p:bold r:id="rId20"/>
      <p:italic r:id="rId21"/>
      <p:boldItalic r:id="rId22"/>
    </p:embeddedFont>
    <p:embeddedFont>
      <p:font typeface="Inter SemiBold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694855-CAC8-49C0-8B9D-B01980CAB65A}">
  <a:tblStyle styleId="{95694855-CAC8-49C0-8B9D-B01980CAB65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.fntdata"/><Relationship Id="rId22" Type="http://schemas.openxmlformats.org/officeDocument/2006/relationships/font" Target="fonts/MontserratSemiBold-boldItalic.fntdata"/><Relationship Id="rId21" Type="http://schemas.openxmlformats.org/officeDocument/2006/relationships/font" Target="fonts/MontserratSemiBold-italic.fntdata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8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InterMedium-boldItalic.fntdata"/><Relationship Id="rId19" Type="http://schemas.openxmlformats.org/officeDocument/2006/relationships/font" Target="fonts/Montserrat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3944d2b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3944d2b7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3944d2e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3944d2e5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3944d2b7c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3944d2b7c_0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3944d2e5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f3944d2e52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7cb4ae31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f7cb4ae31b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35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10" Type="http://schemas.openxmlformats.org/officeDocument/2006/relationships/image" Target="../media/image2.png"/><Relationship Id="rId9" Type="http://schemas.openxmlformats.org/officeDocument/2006/relationships/image" Target="../media/image9.png"/><Relationship Id="rId5" Type="http://schemas.openxmlformats.org/officeDocument/2006/relationships/image" Target="../media/image29.png"/><Relationship Id="rId6" Type="http://schemas.openxmlformats.org/officeDocument/2006/relationships/image" Target="../media/image14.png"/><Relationship Id="rId7" Type="http://schemas.openxmlformats.org/officeDocument/2006/relationships/image" Target="../media/image26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4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39.png"/><Relationship Id="rId7" Type="http://schemas.openxmlformats.org/officeDocument/2006/relationships/image" Target="../media/image19.png"/><Relationship Id="rId8" Type="http://schemas.openxmlformats.org/officeDocument/2006/relationships/image" Target="../media/image4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47.png"/><Relationship Id="rId7" Type="http://schemas.openxmlformats.org/officeDocument/2006/relationships/image" Target="../media/image24.png"/><Relationship Id="rId8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9" Type="http://schemas.openxmlformats.org/officeDocument/2006/relationships/image" Target="../media/image28.png"/><Relationship Id="rId5" Type="http://schemas.openxmlformats.org/officeDocument/2006/relationships/image" Target="../media/image37.png"/><Relationship Id="rId6" Type="http://schemas.openxmlformats.org/officeDocument/2006/relationships/image" Target="../media/image25.png"/><Relationship Id="rId7" Type="http://schemas.openxmlformats.org/officeDocument/2006/relationships/image" Target="../media/image27.png"/><Relationship Id="rId8" Type="http://schemas.openxmlformats.org/officeDocument/2006/relationships/image" Target="../media/image4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9" Type="http://schemas.openxmlformats.org/officeDocument/2006/relationships/image" Target="../media/image38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Relationship Id="rId7" Type="http://schemas.openxmlformats.org/officeDocument/2006/relationships/image" Target="../media/image30.png"/><Relationship Id="rId8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44.png"/><Relationship Id="rId9" Type="http://schemas.openxmlformats.org/officeDocument/2006/relationships/image" Target="../media/image53.png"/><Relationship Id="rId5" Type="http://schemas.openxmlformats.org/officeDocument/2006/relationships/image" Target="../media/image43.png"/><Relationship Id="rId6" Type="http://schemas.openxmlformats.org/officeDocument/2006/relationships/image" Target="../media/image48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71525" y="2319337"/>
            <a:ext cx="876109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Automating Document PDFs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with </a:t>
            </a:r>
            <a:r>
              <a:rPr b="1" i="0" lang="en-US" sz="435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Excel and SAP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71525" y="3843337"/>
            <a:ext cx="83439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 portfolio project to reduce manual work in enterprise reporting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771525" y="4491037"/>
            <a:ext cx="952500" cy="476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76177"/>
            <a:ext cx="5110162" cy="2962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276177"/>
            <a:ext cx="5110162" cy="29628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66800" y="2571452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Manual Bottleneck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66800" y="2942927"/>
            <a:ext cx="4519612" cy="1003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 many enterprise environments, engineers and SCM analysts must manually search, open, and review repetitive records inside legacy SAP GUI systems day in and day out.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05587" y="2571452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Operational Friction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05587" y="2942927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Exporting PDFs individually and writing back tracking references is slow, dull, and prone to costly human typographical errors.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400175" y="4156174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Repeatedly opening SAP transactions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400175" y="4549973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Finding materials &amp; logs one-by-one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938962" y="390525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Hours wasted on mindless clicks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38962" y="4299049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Risk of mismatched files &amp; missing logs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17998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5737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5587" y="39290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5587" y="4322861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From Manual Pages to One-Click PDF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78384"/>
            <a:ext cx="5110162" cy="3339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078384"/>
            <a:ext cx="5110162" cy="333925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066800" y="2373659"/>
            <a:ext cx="474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Natural-Language Iteration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66800" y="2726084"/>
            <a:ext cx="4519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Leveraged advanced AI prompts (via Perplexity) to drastically accelerate structural development, design loops, and visual presentation: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05587" y="2373659"/>
            <a:ext cx="474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Strict Human Governance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605587" y="2726084"/>
            <a:ext cx="4519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While AI acted as a highly competent development accelerator, all critical engineering choices remained 100% human-driven: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834187" y="4535685"/>
            <a:ext cx="4290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"This was AI-assisted, not AI-driven: I guided the design while the assistant accelerated iteration."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400175" y="364420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Sketched complex VBA error traps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400175" y="399469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Formulated robust modular code logic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400175" y="434518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Re-iterated custom UI/UX design layouts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938962" y="364420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Security &amp; local sanitization constraints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938962" y="399469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Deep modular layout and API naming design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366801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01850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436899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5587" y="366801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05587" y="4018508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Development Style: AI-Assisted "Vibe Coding"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71525" y="2604789"/>
            <a:ext cx="5365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Quantified Impact</a:t>
            </a:r>
            <a:endParaRPr/>
          </a:p>
        </p:txBody>
      </p:sp>
      <p:graphicFrame>
        <p:nvGraphicFramePr>
          <p:cNvPr id="139" name="Google Shape;139;p16"/>
          <p:cNvGraphicFramePr/>
          <p:nvPr/>
        </p:nvGraphicFramePr>
        <p:xfrm>
          <a:off x="6310312" y="23476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{95694855-CAC8-49C0-8B9D-B01980CAB65A}</a:tableStyleId>
              </a:tblPr>
              <a:tblGrid>
                <a:gridCol w="1228725"/>
                <a:gridCol w="1840700"/>
                <a:gridCol w="2040725"/>
              </a:tblGrid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Operation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Before (Manual)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After (Automated)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Navigation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Slow SAP GUI inputs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Instant Macro automation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File Saving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"Save As" clicks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Automatic paths &amp; names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Logging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tracking entries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Auto-filled status logs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" name="Google Shape;140;p16"/>
          <p:cNvSpPr txBox="1"/>
          <p:nvPr/>
        </p:nvSpPr>
        <p:spPr>
          <a:xfrm>
            <a:off x="1104900" y="2976264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Massive Time Savings: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Reduces hours of repetitive manual printing into a single, background execution click.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104900" y="3620988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Absolute Consistency: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Standardizes naming rules, folders, and outputs without human error.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04900" y="4265711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 Traceability: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Every exported file has an exact corresponding logged reference in the Master Excel Sheet.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6310312" y="2819102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7539037" y="2819102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9379743" y="2819102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310312" y="3597175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7539037" y="3597175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9379743" y="3597175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310312" y="4375249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7539037" y="4375249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9379743" y="4375249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310312" y="5153322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7539037" y="5153322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9379743" y="5153322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00007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6448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289524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Value &amp; Benefits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09489"/>
            <a:ext cx="5110162" cy="3296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109489"/>
            <a:ext cx="5110162" cy="329624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1066800" y="2404764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Master Parameter Sheet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66800" y="2776239"/>
            <a:ext cx="4519612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 clean, structured Excel dashboard serves as the central control tower for the entire program execution: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605587" y="2404764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Behind-The-Scenes Loop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605587" y="2776239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When the user triggers the macro, Excel runs a background automation script that directly navigates the SAP GUI in real-time.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605587" y="3786187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PDFs are seamlessly structured and generated directly inside the PC's designated local folders while the operator stays focused on higher-value analysis.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400175" y="3535263"/>
            <a:ext cx="418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A: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Material ID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400175" y="3929062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B: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Raw parameters or descriptors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400175" y="4322861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C: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Auto-logged Status (Created / N/A / Error)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400175" y="471666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D: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Exported Document ID</a:t>
            </a:r>
            <a:endParaRPr/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3559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395287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4346674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6800" y="474047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It Looks in Practice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1747837"/>
            <a:ext cx="5110162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771525" y="2341364"/>
            <a:ext cx="536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Chronological Action Pipeline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71525" y="2693789"/>
            <a:ext cx="5110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 unified workflow connecting Excel interfaces, SAP mainframes, and the local Windows OS environment: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104900" y="3280469"/>
            <a:ext cx="477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Read: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Parses raw material lists from Column B.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1104900" y="3630959"/>
            <a:ext cx="4776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Navigate: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Directs SAP screens to open specific PDF/Document links.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104900" y="4217640"/>
            <a:ext cx="4776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Intercepts Windows Save Dialogs to input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file names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automatically.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1104900" y="4804320"/>
            <a:ext cx="477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Log: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Updates Columns C &amp; D with status logs and document IDs.</a:t>
            </a:r>
            <a:endParaRPr/>
          </a:p>
        </p:txBody>
      </p:sp>
      <p:pic>
        <p:nvPicPr>
          <p:cNvPr descr="image.png" id="194" name="Google Shape;19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304282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654772"/>
            <a:ext cx="1143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241452"/>
            <a:ext cx="1143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4828133"/>
            <a:ext cx="133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Macro Workflow: From Excel to Local Storage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771525" y="6467475"/>
            <a:ext cx="452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Conceptual workflow built in Canva; no real SAP screens or company data exposed.</a:t>
            </a:r>
            <a:endParaRPr/>
          </a:p>
        </p:txBody>
      </p:sp>
      <p:pic>
        <p:nvPicPr>
          <p:cNvPr id="201" name="Google Shape;201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86500" y="2162175"/>
            <a:ext cx="5133975" cy="33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0550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9575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946785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Excel Engine (VBA)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019175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Designed using Visual Basic for Applications to parse target document pools, handle logical branching, and write back execution statuses.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4575810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SAP GUI Scripting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4648200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Interfaces directly with SAP's native Scripting API, enabling the Excel macro to programmatically control standard screens, grids, and tabs.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8204835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Windows OS API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8277225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Utilizes low-level Windows API commands to capture print-to-PDF save prompts, auto-typing destination file paths without manual clicking.</a:t>
            </a:r>
            <a:endParaRPr/>
          </a:p>
        </p:txBody>
      </p:sp>
      <p:pic>
        <p:nvPicPr>
          <p:cNvPr descr="image.png" id="216" name="Google Shape;21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24100" y="282892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8289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0712" y="28289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It Was Built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47069"/>
            <a:ext cx="2519362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1387" y="2747069"/>
            <a:ext cx="2519362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747069"/>
            <a:ext cx="2519362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1112" y="2747069"/>
            <a:ext cx="2519362" cy="200203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990600" y="345191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modMain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933000" y="3756725"/>
            <a:ext cx="23004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The control hub. Handles loop bounds, coordinates input datasets, maps target arrays, and initiates core run sequences.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3700462" y="345191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modSAP_Helpers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3700462" y="3756719"/>
            <a:ext cx="20811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Establishes SAP session hooks, manipulates text grids, triggers script transactions, and safely checks active windows.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410325" y="345191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modWinAPI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410325" y="3756719"/>
            <a:ext cx="20811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Employs FindWindow and low-level SendKeys API to bypass print dialog prompts, forcing path entry and saving.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9120187" y="345191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modCore_Workflow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9120187" y="3756719"/>
            <a:ext cx="20811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Implements core business logic rules, text parsing algorithms, directory verification, and cell update logs.</a:t>
            </a:r>
            <a:endParaRPr/>
          </a:p>
        </p:txBody>
      </p:sp>
      <p:pic>
        <p:nvPicPr>
          <p:cNvPr descr="image.png" id="238" name="Google Shape;23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2994719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00462" y="2994719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0325" y="2994719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20187" y="2994719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Module Architecture: Structured VBA Codebase</a:t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771525" y="6467475"/>
            <a:ext cx="478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Clean, modular VBA that can be completely reused for similar SAP-Excel PDF workflows.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28912"/>
            <a:ext cx="425946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1162050" y="3119437"/>
            <a:ext cx="3478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80%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1162050" y="4262437"/>
            <a:ext cx="3478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Operational Time Saved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5507235" y="2757487"/>
            <a:ext cx="668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Unlocking Operational Excellence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5507235" y="3195637"/>
            <a:ext cx="6389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By automating the manual extraction cycle, this tool completely replaces repetitive administrative workflows with zero-latency software automation.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5507235" y="3887092"/>
            <a:ext cx="63894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This directly translates into massive time savings, absolute file standardization, zero typographical errors, and a streamlined procurement operations model ready for enterprise scale.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962025" y="581025"/>
            <a:ext cx="109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 Impact Metrics</a:t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771525" y="581025"/>
            <a:ext cx="47700" cy="4668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2143125" y="2468165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Advanced VBA &amp; Excel Architectures: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Building reliable, resilient macros that manipulate enterprise datasets cleanly and efficiently.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2143125" y="3112889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ERP System Automation: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Gaining deep practical scripting expertise with legacy ERP systems (SAP), overcoming interface constraints.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2143125" y="3757612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Process &amp; System Design: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Analyzing real-world human bottlenecks and translating them into reliable, repeatable software solutions.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2143125" y="4402335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 &amp; Modular Codebase: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Organizing codebase structures into isolated logical modules for easy maintenance, extension, and deployment.</a:t>
            </a:r>
            <a:endParaRPr/>
          </a:p>
        </p:txBody>
      </p:sp>
      <p:pic>
        <p:nvPicPr>
          <p:cNvPr descr="image.png" id="267" name="Google Shape;26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49197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3670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7814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426148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>
            <a:off x="942975" y="485775"/>
            <a:ext cx="1100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Demonstrated Aspects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377826"/>
            <a:ext cx="5110162" cy="2759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377826"/>
            <a:ext cx="5110162" cy="275957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1066800" y="2673101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 Scaling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1066800" y="3044576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The code architecture is modularly decoupled, meaning it can be expanded to automate other core business procedures: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6605587" y="2673101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Advanced Features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6605587" y="3044576"/>
            <a:ext cx="4519612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Future development phases can add enterprise-grade reliability and communication protocols: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1400175" y="4054524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Expanding to sales orders, shipments, and billing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1400175" y="4448323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Direct cloud / Document Management system sync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6938962" y="380360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Enhanced real-time error logging &amp; fail-safes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6938962" y="4197399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Windows system dialog or Teams status triggers</a:t>
            </a:r>
            <a:endParaRPr/>
          </a:p>
        </p:txBody>
      </p:sp>
      <p:pic>
        <p:nvPicPr>
          <p:cNvPr descr="image.png" id="288" name="Google Shape;28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0783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472136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5587" y="38274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5587" y="42212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3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Where This Can Go Next</a:t>
            </a:r>
            <a:endParaRPr/>
          </a:p>
        </p:txBody>
      </p:sp>
      <p:sp>
        <p:nvSpPr>
          <p:cNvPr id="293" name="Google Shape;293;p23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1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 txBox="1"/>
          <p:nvPr/>
        </p:nvSpPr>
        <p:spPr>
          <a:xfrm>
            <a:off x="2777063" y="3330590"/>
            <a:ext cx="95535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https://media.licdn.com/dms/image/v2/C4E12AQF8fb_Io9YHyA/article-cover_image-shrink_720_1280/article-cover_image-shrink_720_1280/0/1643913705813?e=2147483647&amp;v=beta&amp;t=SoCBKCyrgtjpmqvXqlk6dfCST0lafo6-SdMPMxve7hM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2777025" y="3806130"/>
            <a:ext cx="95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https://media.licdn.com/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962025" y="581025"/>
            <a:ext cx="109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771525" y="581025"/>
            <a:ext cx="47700" cy="4668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925" y="3246795"/>
            <a:ext cx="1650699" cy="8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