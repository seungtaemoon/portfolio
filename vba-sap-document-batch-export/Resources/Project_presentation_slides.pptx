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y="6858000" cx="12192000"/>
  <p:notesSz cx="6858000" cy="9144000"/>
  <p:embeddedFontLst>
    <p:embeddedFont>
      <p:font typeface="Montserrat SemiBold"/>
      <p:regular r:id="rId20"/>
      <p:bold r:id="rId21"/>
      <p:italic r:id="rId22"/>
      <p:boldItalic r:id="rId23"/>
    </p:embeddedFont>
    <p:embeddedFont>
      <p:font typeface="Inter SemiBold"/>
      <p:regular r:id="rId24"/>
      <p:bold r:id="rId25"/>
      <p:italic r:id="rId26"/>
      <p:boldItalic r:id="rId27"/>
    </p:embeddedFont>
    <p:embeddedFont>
      <p:font typeface="Montserrat"/>
      <p:regular r:id="rId28"/>
      <p:bold r:id="rId29"/>
      <p:italic r:id="rId30"/>
      <p:boldItalic r:id="rId31"/>
    </p:embeddedFont>
    <p:embeddedFont>
      <p:font typeface="Inter"/>
      <p:regular r:id="rId32"/>
      <p:bold r:id="rId33"/>
      <p:italic r:id="rId34"/>
      <p:boldItalic r:id="rId35"/>
    </p:embeddedFont>
    <p:embeddedFont>
      <p:font typeface="Inter Medium"/>
      <p:regular r:id="rId36"/>
      <p:bold r:id="rId37"/>
      <p:italic r:id="rId38"/>
      <p:boldItalic r:id="rId3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40" roundtripDataSignature="AMtx7mgTbYRRx7TIxzsyNItfu70FqUx9P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4AB5C4D-3846-4573-9431-B61F419FFCB4}">
  <a:tblStyle styleId="{C4AB5C4D-3846-4573-9431-B61F419FFCB4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 b="off" i="off"/>
      <a:tcStyle>
        <a:fill>
          <a:solidFill>
            <a:srgbClr val="CFD7E7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FD7E7"/>
          </a:solidFill>
        </a:fill>
      </a:tcStyle>
    </a:band1V>
    <a:band2V>
      <a:tcTxStyle b="off" i="off"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customschemas.google.com/relationships/presentationmetadata" Target="metadata"/><Relationship Id="rId20" Type="http://schemas.openxmlformats.org/officeDocument/2006/relationships/font" Target="fonts/MontserratSemiBold-regular.fntdata"/><Relationship Id="rId22" Type="http://schemas.openxmlformats.org/officeDocument/2006/relationships/font" Target="fonts/MontserratSemiBold-italic.fntdata"/><Relationship Id="rId21" Type="http://schemas.openxmlformats.org/officeDocument/2006/relationships/font" Target="fonts/MontserratSemiBold-bold.fntdata"/><Relationship Id="rId24" Type="http://schemas.openxmlformats.org/officeDocument/2006/relationships/font" Target="fonts/InterSemiBold-regular.fntdata"/><Relationship Id="rId23" Type="http://schemas.openxmlformats.org/officeDocument/2006/relationships/font" Target="fonts/MontserratSemiBold-bold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InterSemiBold-italic.fntdata"/><Relationship Id="rId25" Type="http://schemas.openxmlformats.org/officeDocument/2006/relationships/font" Target="fonts/InterSemiBold-bold.fntdata"/><Relationship Id="rId28" Type="http://schemas.openxmlformats.org/officeDocument/2006/relationships/font" Target="fonts/Montserrat-regular.fntdata"/><Relationship Id="rId27" Type="http://schemas.openxmlformats.org/officeDocument/2006/relationships/font" Target="fonts/InterSemiBold-boldItalic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Montserrat-bold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Montserrat-boldItalic.fntdata"/><Relationship Id="rId30" Type="http://schemas.openxmlformats.org/officeDocument/2006/relationships/font" Target="fonts/Montserrat-italic.fntdata"/><Relationship Id="rId11" Type="http://schemas.openxmlformats.org/officeDocument/2006/relationships/slide" Target="slides/slide5.xml"/><Relationship Id="rId33" Type="http://schemas.openxmlformats.org/officeDocument/2006/relationships/font" Target="fonts/Inter-bold.fntdata"/><Relationship Id="rId10" Type="http://schemas.openxmlformats.org/officeDocument/2006/relationships/slide" Target="slides/slide4.xml"/><Relationship Id="rId32" Type="http://schemas.openxmlformats.org/officeDocument/2006/relationships/font" Target="fonts/Inter-regular.fntdata"/><Relationship Id="rId13" Type="http://schemas.openxmlformats.org/officeDocument/2006/relationships/slide" Target="slides/slide7.xml"/><Relationship Id="rId35" Type="http://schemas.openxmlformats.org/officeDocument/2006/relationships/font" Target="fonts/Inter-boldItalic.fntdata"/><Relationship Id="rId12" Type="http://schemas.openxmlformats.org/officeDocument/2006/relationships/slide" Target="slides/slide6.xml"/><Relationship Id="rId34" Type="http://schemas.openxmlformats.org/officeDocument/2006/relationships/font" Target="fonts/Inter-italic.fntdata"/><Relationship Id="rId15" Type="http://schemas.openxmlformats.org/officeDocument/2006/relationships/slide" Target="slides/slide9.xml"/><Relationship Id="rId37" Type="http://schemas.openxmlformats.org/officeDocument/2006/relationships/font" Target="fonts/InterMedium-bold.fntdata"/><Relationship Id="rId14" Type="http://schemas.openxmlformats.org/officeDocument/2006/relationships/slide" Target="slides/slide8.xml"/><Relationship Id="rId36" Type="http://schemas.openxmlformats.org/officeDocument/2006/relationships/font" Target="fonts/InterMedium-regular.fntdata"/><Relationship Id="rId17" Type="http://schemas.openxmlformats.org/officeDocument/2006/relationships/slide" Target="slides/slide11.xml"/><Relationship Id="rId39" Type="http://schemas.openxmlformats.org/officeDocument/2006/relationships/font" Target="fonts/InterMedium-boldItalic.fntdata"/><Relationship Id="rId16" Type="http://schemas.openxmlformats.org/officeDocument/2006/relationships/slide" Target="slides/slide10.xml"/><Relationship Id="rId38" Type="http://schemas.openxmlformats.org/officeDocument/2006/relationships/font" Target="fonts/InterMedium-italic.fntdata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0" name="Google Shape;90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1" name="Google Shape;111;p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5" name="Google Shape;135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2" name="Google Shape;162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4" name="Google Shape;184;p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4" name="Google Shape;204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23" name="Google Shape;223;p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51" name="Google Shape;251;p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68" name="Google Shape;268;p1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80" name="Google Shape;280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95" name="Google Shape;295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16" name="Google Shape;316;p1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6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6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7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8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8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9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9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0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0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20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0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2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2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3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3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3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4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5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5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3.png"/><Relationship Id="rId4" Type="http://schemas.openxmlformats.org/officeDocument/2006/relationships/image" Target="../media/image18.png"/><Relationship Id="rId5" Type="http://schemas.openxmlformats.org/officeDocument/2006/relationships/image" Target="../media/image6.png"/><Relationship Id="rId6" Type="http://schemas.openxmlformats.org/officeDocument/2006/relationships/image" Target="../media/image39.png"/><Relationship Id="rId7" Type="http://schemas.openxmlformats.org/officeDocument/2006/relationships/image" Target="../media/image2.png"/><Relationship Id="rId8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Relationship Id="rId10" Type="http://schemas.openxmlformats.org/officeDocument/2006/relationships/image" Target="../media/image7.png"/><Relationship Id="rId9" Type="http://schemas.openxmlformats.org/officeDocument/2006/relationships/image" Target="../media/image12.png"/><Relationship Id="rId5" Type="http://schemas.openxmlformats.org/officeDocument/2006/relationships/image" Target="../media/image5.png"/><Relationship Id="rId6" Type="http://schemas.openxmlformats.org/officeDocument/2006/relationships/image" Target="../media/image10.png"/><Relationship Id="rId7" Type="http://schemas.openxmlformats.org/officeDocument/2006/relationships/image" Target="../media/image45.png"/><Relationship Id="rId8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3.png"/><Relationship Id="rId4" Type="http://schemas.openxmlformats.org/officeDocument/2006/relationships/image" Target="../media/image3.png"/><Relationship Id="rId5" Type="http://schemas.openxmlformats.org/officeDocument/2006/relationships/image" Target="../media/image14.png"/><Relationship Id="rId6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Relationship Id="rId4" Type="http://schemas.openxmlformats.org/officeDocument/2006/relationships/image" Target="../media/image17.png"/><Relationship Id="rId9" Type="http://schemas.openxmlformats.org/officeDocument/2006/relationships/image" Target="../media/image23.png"/><Relationship Id="rId5" Type="http://schemas.openxmlformats.org/officeDocument/2006/relationships/image" Target="../media/image21.png"/><Relationship Id="rId6" Type="http://schemas.openxmlformats.org/officeDocument/2006/relationships/image" Target="../media/image15.png"/><Relationship Id="rId7" Type="http://schemas.openxmlformats.org/officeDocument/2006/relationships/image" Target="../media/image24.png"/><Relationship Id="rId8" Type="http://schemas.openxmlformats.org/officeDocument/2006/relationships/image" Target="../media/image1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Relationship Id="rId4" Type="http://schemas.openxmlformats.org/officeDocument/2006/relationships/image" Target="../media/image27.png"/><Relationship Id="rId9" Type="http://schemas.openxmlformats.org/officeDocument/2006/relationships/image" Target="../media/image20.png"/><Relationship Id="rId5" Type="http://schemas.openxmlformats.org/officeDocument/2006/relationships/image" Target="../media/image26.png"/><Relationship Id="rId6" Type="http://schemas.openxmlformats.org/officeDocument/2006/relationships/image" Target="../media/image19.png"/><Relationship Id="rId7" Type="http://schemas.openxmlformats.org/officeDocument/2006/relationships/image" Target="../media/image22.png"/><Relationship Id="rId8" Type="http://schemas.openxmlformats.org/officeDocument/2006/relationships/image" Target="../media/image2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3.png"/><Relationship Id="rId4" Type="http://schemas.openxmlformats.org/officeDocument/2006/relationships/image" Target="../media/image50.png"/><Relationship Id="rId9" Type="http://schemas.openxmlformats.org/officeDocument/2006/relationships/image" Target="../media/image32.png"/><Relationship Id="rId5" Type="http://schemas.openxmlformats.org/officeDocument/2006/relationships/image" Target="../media/image47.png"/><Relationship Id="rId6" Type="http://schemas.openxmlformats.org/officeDocument/2006/relationships/image" Target="../media/image44.png"/><Relationship Id="rId7" Type="http://schemas.openxmlformats.org/officeDocument/2006/relationships/image" Target="../media/image28.png"/><Relationship Id="rId8" Type="http://schemas.openxmlformats.org/officeDocument/2006/relationships/image" Target="../media/image5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29.png"/><Relationship Id="rId10" Type="http://schemas.openxmlformats.org/officeDocument/2006/relationships/image" Target="../media/image51.png"/><Relationship Id="rId9" Type="http://schemas.openxmlformats.org/officeDocument/2006/relationships/image" Target="../media/image34.png"/><Relationship Id="rId5" Type="http://schemas.openxmlformats.org/officeDocument/2006/relationships/image" Target="../media/image31.png"/><Relationship Id="rId6" Type="http://schemas.openxmlformats.org/officeDocument/2006/relationships/image" Target="../media/image30.png"/><Relationship Id="rId7" Type="http://schemas.openxmlformats.org/officeDocument/2006/relationships/image" Target="../media/image38.png"/><Relationship Id="rId8" Type="http://schemas.openxmlformats.org/officeDocument/2006/relationships/image" Target="../media/image3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37.png"/><Relationship Id="rId5" Type="http://schemas.openxmlformats.org/officeDocument/2006/relationships/image" Target="../media/image33.png"/><Relationship Id="rId6" Type="http://schemas.openxmlformats.org/officeDocument/2006/relationships/image" Target="../media/image42.png"/><Relationship Id="rId7" Type="http://schemas.openxmlformats.org/officeDocument/2006/relationships/image" Target="../media/image35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0.png"/><Relationship Id="rId4" Type="http://schemas.openxmlformats.org/officeDocument/2006/relationships/image" Target="../media/image5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png"/><Relationship Id="rId4" Type="http://schemas.openxmlformats.org/officeDocument/2006/relationships/image" Target="../media/image5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Relationship Id="rId4" Type="http://schemas.openxmlformats.org/officeDocument/2006/relationships/image" Target="../media/image48.png"/><Relationship Id="rId9" Type="http://schemas.openxmlformats.org/officeDocument/2006/relationships/image" Target="../media/image49.png"/><Relationship Id="rId5" Type="http://schemas.openxmlformats.org/officeDocument/2006/relationships/image" Target="../media/image46.png"/><Relationship Id="rId6" Type="http://schemas.openxmlformats.org/officeDocument/2006/relationships/image" Target="../media/image43.png"/><Relationship Id="rId7" Type="http://schemas.openxmlformats.org/officeDocument/2006/relationships/image" Target="../media/image41.png"/><Relationship Id="rId8" Type="http://schemas.openxmlformats.org/officeDocument/2006/relationships/image" Target="../media/image5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0.png"/><Relationship Id="rId4" Type="http://schemas.openxmlformats.org/officeDocument/2006/relationships/image" Target="../media/image20.png"/><Relationship Id="rId5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"/>
          <p:cNvSpPr txBox="1"/>
          <p:nvPr/>
        </p:nvSpPr>
        <p:spPr>
          <a:xfrm>
            <a:off x="771525" y="2319337"/>
            <a:ext cx="8761095" cy="1381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498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350"/>
              <a:buFont typeface="Arial"/>
              <a:buNone/>
            </a:pPr>
            <a:r>
              <a:rPr b="1" i="0" lang="en-US" sz="435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Automating Document PDFs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435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with </a:t>
            </a:r>
            <a:r>
              <a:rPr b="1" i="0" lang="en-US" sz="4350" u="none" cap="none" strike="noStrike">
                <a:solidFill>
                  <a:srgbClr val="64FFDA"/>
                </a:solidFill>
                <a:latin typeface="Montserrat"/>
                <a:ea typeface="Montserrat"/>
                <a:cs typeface="Montserrat"/>
                <a:sym typeface="Montserrat"/>
              </a:rPr>
              <a:t>Excel and SAP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771525" y="3843337"/>
            <a:ext cx="8343900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8892B0"/>
                </a:solidFill>
                <a:latin typeface="Inter"/>
                <a:ea typeface="Inter"/>
                <a:cs typeface="Inter"/>
                <a:sym typeface="Inter"/>
              </a:rPr>
              <a:t>A portfolio project to reduce manual work in enterprise reporting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"/>
          <p:cNvSpPr/>
          <p:nvPr/>
        </p:nvSpPr>
        <p:spPr>
          <a:xfrm>
            <a:off x="771525" y="4491037"/>
            <a:ext cx="952500" cy="47625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2" name="Google Shape;92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3" name="Google Shape;93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2276177"/>
            <a:ext cx="5110162" cy="296287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4" name="Google Shape;94;p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10312" y="2276177"/>
            <a:ext cx="5110162" cy="296287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"/>
          <p:cNvSpPr txBox="1"/>
          <p:nvPr/>
        </p:nvSpPr>
        <p:spPr>
          <a:xfrm>
            <a:off x="1066800" y="2571452"/>
            <a:ext cx="4745593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4FFD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The Manual Bottleneck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2"/>
          <p:cNvSpPr txBox="1"/>
          <p:nvPr/>
        </p:nvSpPr>
        <p:spPr>
          <a:xfrm>
            <a:off x="1066800" y="2942927"/>
            <a:ext cx="4519612" cy="10036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In many enterprise environments, engineers and SCM analysts must manually search, open, and review repetitive records inside legacy SAP GUI systems day in and day out.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2"/>
          <p:cNvSpPr txBox="1"/>
          <p:nvPr/>
        </p:nvSpPr>
        <p:spPr>
          <a:xfrm>
            <a:off x="6605587" y="2571452"/>
            <a:ext cx="4745593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4FFD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The Operational Friction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2"/>
          <p:cNvSpPr txBox="1"/>
          <p:nvPr/>
        </p:nvSpPr>
        <p:spPr>
          <a:xfrm>
            <a:off x="6605587" y="2942927"/>
            <a:ext cx="4519612" cy="752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Exporting PDFs individually and writing back tracking references is slow, dull, and prone to costly human typographical errors.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1400175" y="4156174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Repeatedly opening SAP transactions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2"/>
          <p:cNvSpPr txBox="1"/>
          <p:nvPr/>
        </p:nvSpPr>
        <p:spPr>
          <a:xfrm>
            <a:off x="1400175" y="4549973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Finding materials &amp; logs one-by-one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2"/>
          <p:cNvSpPr txBox="1"/>
          <p:nvPr/>
        </p:nvSpPr>
        <p:spPr>
          <a:xfrm>
            <a:off x="6938962" y="3905250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Hours wasted on mindless clicks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2"/>
          <p:cNvSpPr txBox="1"/>
          <p:nvPr/>
        </p:nvSpPr>
        <p:spPr>
          <a:xfrm>
            <a:off x="6938962" y="4299049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Risk of mismatched files &amp; missing logs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03" name="Google Shape;103;p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66800" y="4179986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4" name="Google Shape;104;p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66800" y="4573785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5" name="Google Shape;105;p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605587" y="3929062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6" name="Google Shape;106;p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605587" y="4322861"/>
            <a:ext cx="190500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"/>
          <p:cNvSpPr txBox="1"/>
          <p:nvPr/>
        </p:nvSpPr>
        <p:spPr>
          <a:xfrm>
            <a:off x="942975" y="485775"/>
            <a:ext cx="11001375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From Manual Pages to One-Click PDF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2"/>
          <p:cNvSpPr/>
          <p:nvPr/>
        </p:nvSpPr>
        <p:spPr>
          <a:xfrm>
            <a:off x="771525" y="485775"/>
            <a:ext cx="47625" cy="4191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13" name="Google Shape;113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4" name="Google Shape;114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2078384"/>
            <a:ext cx="5110162" cy="333925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5" name="Google Shape;115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10312" y="2078384"/>
            <a:ext cx="5110162" cy="3339256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3"/>
          <p:cNvSpPr txBox="1"/>
          <p:nvPr/>
        </p:nvSpPr>
        <p:spPr>
          <a:xfrm>
            <a:off x="1066800" y="2373659"/>
            <a:ext cx="47457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0" i="0" lang="en-US" sz="1650" u="none" cap="none" strike="noStrike">
                <a:solidFill>
                  <a:srgbClr val="64FFD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Natural-Language Iteration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3"/>
          <p:cNvSpPr txBox="1"/>
          <p:nvPr/>
        </p:nvSpPr>
        <p:spPr>
          <a:xfrm>
            <a:off x="1066800" y="2726084"/>
            <a:ext cx="4519500" cy="7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Leveraged advanced AI prompts (via Perplexity) to drastically accelerate structural development, design loops, and visual presentation: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3"/>
          <p:cNvSpPr txBox="1"/>
          <p:nvPr/>
        </p:nvSpPr>
        <p:spPr>
          <a:xfrm>
            <a:off x="6605587" y="2373659"/>
            <a:ext cx="47457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0" i="0" lang="en-US" sz="1650" u="none" cap="none" strike="noStrike">
                <a:solidFill>
                  <a:srgbClr val="64FFD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Strict Human Governance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3"/>
          <p:cNvSpPr txBox="1"/>
          <p:nvPr/>
        </p:nvSpPr>
        <p:spPr>
          <a:xfrm>
            <a:off x="6605587" y="2726084"/>
            <a:ext cx="4519500" cy="7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While AI acted as a highly competent development accelerator, all critical engineering choices remained 100% human-driven: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3"/>
          <p:cNvSpPr txBox="1"/>
          <p:nvPr/>
        </p:nvSpPr>
        <p:spPr>
          <a:xfrm>
            <a:off x="6832987" y="4271660"/>
            <a:ext cx="4290900" cy="10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1" lang="en-US" sz="1200" u="none" cap="none" strike="noStrike">
                <a:solidFill>
                  <a:srgbClr val="8892B0"/>
                </a:solidFill>
                <a:latin typeface="Inter"/>
                <a:ea typeface="Inter"/>
                <a:cs typeface="Inter"/>
                <a:sym typeface="Inter"/>
              </a:rPr>
              <a:t>"AI accelerated documentation, refactoring, and design iterations while all architecture decisions, debugging, SAP integration, testing, and final implementation remained my responsibility. "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3"/>
          <p:cNvSpPr txBox="1"/>
          <p:nvPr/>
        </p:nvSpPr>
        <p:spPr>
          <a:xfrm>
            <a:off x="1400175" y="3644205"/>
            <a:ext cx="41862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Sketched complex VBA error traps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3"/>
          <p:cNvSpPr txBox="1"/>
          <p:nvPr/>
        </p:nvSpPr>
        <p:spPr>
          <a:xfrm>
            <a:off x="1400175" y="3994695"/>
            <a:ext cx="41862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Formulated robust modular code logic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3"/>
          <p:cNvSpPr txBox="1"/>
          <p:nvPr/>
        </p:nvSpPr>
        <p:spPr>
          <a:xfrm>
            <a:off x="1400175" y="4345185"/>
            <a:ext cx="41862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Re-iterated custom UI/UX design layouts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3"/>
          <p:cNvSpPr txBox="1"/>
          <p:nvPr/>
        </p:nvSpPr>
        <p:spPr>
          <a:xfrm>
            <a:off x="6938962" y="3644205"/>
            <a:ext cx="41862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Security &amp; local sanitization constraints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3"/>
          <p:cNvSpPr txBox="1"/>
          <p:nvPr/>
        </p:nvSpPr>
        <p:spPr>
          <a:xfrm>
            <a:off x="6938962" y="3994695"/>
            <a:ext cx="41862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Deep modular layout and API naming design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26" name="Google Shape;126;p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66800" y="3668017"/>
            <a:ext cx="19050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7" name="Google Shape;127;p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66800" y="4018508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8" name="Google Shape;128;p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066800" y="4368998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9" name="Google Shape;129;p3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605587" y="3668017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0" name="Google Shape;130;p3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605587" y="4018508"/>
            <a:ext cx="190500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3"/>
          <p:cNvSpPr txBox="1"/>
          <p:nvPr/>
        </p:nvSpPr>
        <p:spPr>
          <a:xfrm>
            <a:off x="942975" y="485775"/>
            <a:ext cx="11001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Development Style: AI-Assisted "Vibe Coding"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3"/>
          <p:cNvSpPr/>
          <p:nvPr/>
        </p:nvSpPr>
        <p:spPr>
          <a:xfrm>
            <a:off x="771525" y="485775"/>
            <a:ext cx="47700" cy="4002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37" name="Google Shape;137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4"/>
          <p:cNvSpPr txBox="1"/>
          <p:nvPr/>
        </p:nvSpPr>
        <p:spPr>
          <a:xfrm>
            <a:off x="771525" y="2604789"/>
            <a:ext cx="5365670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Quantified Impact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39" name="Google Shape;139;p4"/>
          <p:cNvGraphicFramePr/>
          <p:nvPr/>
        </p:nvGraphicFramePr>
        <p:xfrm>
          <a:off x="6310312" y="2347614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{C4AB5C4D-3846-4573-9431-B61F419FFCB4}</a:tableStyleId>
              </a:tblPr>
              <a:tblGrid>
                <a:gridCol w="1228725"/>
                <a:gridCol w="1840700"/>
                <a:gridCol w="2040725"/>
              </a:tblGrid>
              <a:tr h="705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64FFDA"/>
                          </a:solidFill>
                          <a:latin typeface="Montserrat SemiBold"/>
                          <a:ea typeface="Montserrat SemiBold"/>
                          <a:cs typeface="Montserrat SemiBold"/>
                          <a:sym typeface="Montserrat SemiBold"/>
                        </a:rPr>
                        <a:t>Operation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64FFDA"/>
                          </a:solidFill>
                          <a:latin typeface="Montserrat SemiBold"/>
                          <a:ea typeface="Montserrat SemiBold"/>
                          <a:cs typeface="Montserrat SemiBold"/>
                          <a:sym typeface="Montserrat SemiBold"/>
                        </a:rPr>
                        <a:t>Before (Manual)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64FFDA"/>
                          </a:solidFill>
                          <a:latin typeface="Montserrat SemiBold"/>
                          <a:ea typeface="Montserrat SemiBold"/>
                          <a:cs typeface="Montserrat SemiBold"/>
                          <a:sym typeface="Montserrat SemiBold"/>
                        </a:rPr>
                        <a:t>After (Automated)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2240"/>
                    </a:solidFill>
                  </a:tcPr>
                </a:tc>
              </a:tr>
              <a:tr h="705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1" i="0" lang="en-US" sz="1275" u="none" cap="none" strike="noStrike">
                          <a:solidFill>
                            <a:srgbClr val="98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Navigation</a:t>
                      </a:r>
                      <a:endParaRPr sz="1400" u="none" cap="none" strike="noStrike">
                        <a:solidFill>
                          <a:srgbClr val="980000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0000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Slow SAP GUI inputs</a:t>
                      </a:r>
                      <a:endParaRPr sz="1400" u="none" cap="none" strike="noStrike">
                        <a:solidFill>
                          <a:srgbClr val="0000FF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0000FF"/>
                          </a:solidFill>
                          <a:latin typeface="Inter Medium"/>
                          <a:ea typeface="Inter Medium"/>
                          <a:cs typeface="Inter Medium"/>
                          <a:sym typeface="Inter Medium"/>
                        </a:rPr>
                        <a:t>Instant Macro automation</a:t>
                      </a:r>
                      <a:endParaRPr sz="1400" u="none" cap="none" strike="noStrike">
                        <a:solidFill>
                          <a:srgbClr val="0000FF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05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1" i="0" lang="en-US" sz="1275" u="none" cap="none" strike="noStrike">
                          <a:solidFill>
                            <a:srgbClr val="98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File Saving</a:t>
                      </a:r>
                      <a:endParaRPr sz="1400" u="none" cap="none" strike="noStrike">
                        <a:solidFill>
                          <a:srgbClr val="980000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0000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Manual "Save As" clicks</a:t>
                      </a:r>
                      <a:endParaRPr sz="1400" u="none" cap="none" strike="noStrike">
                        <a:solidFill>
                          <a:srgbClr val="0000FF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0000FF"/>
                          </a:solidFill>
                          <a:latin typeface="Inter Medium"/>
                          <a:ea typeface="Inter Medium"/>
                          <a:cs typeface="Inter Medium"/>
                          <a:sym typeface="Inter Medium"/>
                        </a:rPr>
                        <a:t>Automatic paths &amp; names</a:t>
                      </a:r>
                      <a:endParaRPr sz="1400" u="none" cap="none" strike="noStrike">
                        <a:solidFill>
                          <a:srgbClr val="0000FF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05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1" i="0" lang="en-US" sz="1275" u="none" cap="none" strike="noStrike">
                          <a:solidFill>
                            <a:srgbClr val="98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Logging</a:t>
                      </a:r>
                      <a:endParaRPr sz="1400" u="none" cap="none" strike="noStrike">
                        <a:solidFill>
                          <a:srgbClr val="980000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0000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Manual tracking entries</a:t>
                      </a:r>
                      <a:endParaRPr sz="1400" u="none" cap="none" strike="noStrike">
                        <a:solidFill>
                          <a:srgbClr val="0000FF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75"/>
                        <a:buFont typeface="Arial"/>
                        <a:buNone/>
                      </a:pPr>
                      <a:r>
                        <a:rPr b="0" i="0" lang="en-US" sz="1275" u="none" cap="none" strike="noStrike">
                          <a:solidFill>
                            <a:srgbClr val="0000FF"/>
                          </a:solidFill>
                          <a:latin typeface="Inter Medium"/>
                          <a:ea typeface="Inter Medium"/>
                          <a:cs typeface="Inter Medium"/>
                          <a:sym typeface="Inter Medium"/>
                        </a:rPr>
                        <a:t>Auto-filled status logs</a:t>
                      </a:r>
                      <a:endParaRPr sz="1400" u="none" cap="none" strike="noStrike">
                        <a:solidFill>
                          <a:srgbClr val="0000FF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40" name="Google Shape;140;p4"/>
          <p:cNvSpPr txBox="1"/>
          <p:nvPr/>
        </p:nvSpPr>
        <p:spPr>
          <a:xfrm>
            <a:off x="1104900" y="2976264"/>
            <a:ext cx="4776900" cy="5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Reduced Manual Effort: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75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Converts hours of repetitive manual document exporting into a single unattended batch execution.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4"/>
          <p:cNvSpPr txBox="1"/>
          <p:nvPr/>
        </p:nvSpPr>
        <p:spPr>
          <a:xfrm>
            <a:off x="1104900" y="3620988"/>
            <a:ext cx="4776787" cy="5018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Absolute Consistency: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Standardizes naming rules, folders, and outputs without human error.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4"/>
          <p:cNvSpPr txBox="1"/>
          <p:nvPr/>
        </p:nvSpPr>
        <p:spPr>
          <a:xfrm>
            <a:off x="1104900" y="4265711"/>
            <a:ext cx="4776787" cy="5018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Full Traceability: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Every exported file has an exact corresponding logged reference in the Master Excel Sheet.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4"/>
          <p:cNvSpPr/>
          <p:nvPr/>
        </p:nvSpPr>
        <p:spPr>
          <a:xfrm>
            <a:off x="6310312" y="2819102"/>
            <a:ext cx="1228725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4"/>
          <p:cNvSpPr/>
          <p:nvPr/>
        </p:nvSpPr>
        <p:spPr>
          <a:xfrm>
            <a:off x="7539037" y="2819102"/>
            <a:ext cx="1840706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4"/>
          <p:cNvSpPr/>
          <p:nvPr/>
        </p:nvSpPr>
        <p:spPr>
          <a:xfrm>
            <a:off x="9379743" y="2819102"/>
            <a:ext cx="2040731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4"/>
          <p:cNvSpPr/>
          <p:nvPr/>
        </p:nvSpPr>
        <p:spPr>
          <a:xfrm>
            <a:off x="6310312" y="3597175"/>
            <a:ext cx="1228725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4"/>
          <p:cNvSpPr/>
          <p:nvPr/>
        </p:nvSpPr>
        <p:spPr>
          <a:xfrm>
            <a:off x="7539037" y="3597175"/>
            <a:ext cx="1840706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4"/>
          <p:cNvSpPr/>
          <p:nvPr/>
        </p:nvSpPr>
        <p:spPr>
          <a:xfrm>
            <a:off x="9379743" y="3597175"/>
            <a:ext cx="2040731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4"/>
          <p:cNvSpPr/>
          <p:nvPr/>
        </p:nvSpPr>
        <p:spPr>
          <a:xfrm>
            <a:off x="6310312" y="4375249"/>
            <a:ext cx="1228725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4"/>
          <p:cNvSpPr/>
          <p:nvPr/>
        </p:nvSpPr>
        <p:spPr>
          <a:xfrm>
            <a:off x="7539037" y="4375249"/>
            <a:ext cx="1840706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4"/>
          <p:cNvSpPr/>
          <p:nvPr/>
        </p:nvSpPr>
        <p:spPr>
          <a:xfrm>
            <a:off x="9379743" y="4375249"/>
            <a:ext cx="2040731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4"/>
          <p:cNvSpPr/>
          <p:nvPr/>
        </p:nvSpPr>
        <p:spPr>
          <a:xfrm>
            <a:off x="6310312" y="5153322"/>
            <a:ext cx="1228725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4"/>
          <p:cNvSpPr/>
          <p:nvPr/>
        </p:nvSpPr>
        <p:spPr>
          <a:xfrm>
            <a:off x="7539037" y="5153322"/>
            <a:ext cx="1840706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4"/>
          <p:cNvSpPr/>
          <p:nvPr/>
        </p:nvSpPr>
        <p:spPr>
          <a:xfrm>
            <a:off x="9379743" y="5153322"/>
            <a:ext cx="2040731" cy="9525"/>
          </a:xfrm>
          <a:prstGeom prst="rect">
            <a:avLst/>
          </a:prstGeom>
          <a:solidFill>
            <a:srgbClr val="23355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55" name="Google Shape;155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300007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6" name="Google Shape;156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71525" y="3644800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7" name="Google Shape;157;p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1525" y="4289524"/>
            <a:ext cx="123825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"/>
          <p:cNvSpPr txBox="1"/>
          <p:nvPr/>
        </p:nvSpPr>
        <p:spPr>
          <a:xfrm>
            <a:off x="942975" y="485775"/>
            <a:ext cx="11001375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Business Value &amp; Benefits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4"/>
          <p:cNvSpPr/>
          <p:nvPr/>
        </p:nvSpPr>
        <p:spPr>
          <a:xfrm>
            <a:off x="771525" y="485775"/>
            <a:ext cx="47625" cy="4191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64" name="Google Shape;164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5" name="Google Shape;165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2109489"/>
            <a:ext cx="5110162" cy="32962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6" name="Google Shape;166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10312" y="2109489"/>
            <a:ext cx="5110162" cy="3296245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5"/>
          <p:cNvSpPr txBox="1"/>
          <p:nvPr/>
        </p:nvSpPr>
        <p:spPr>
          <a:xfrm>
            <a:off x="1066800" y="2404764"/>
            <a:ext cx="4745593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4FFD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Master Parameter Sheet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5"/>
          <p:cNvSpPr txBox="1"/>
          <p:nvPr/>
        </p:nvSpPr>
        <p:spPr>
          <a:xfrm>
            <a:off x="1066800" y="2776239"/>
            <a:ext cx="4519612" cy="5018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A clean, structured Excel dashboard serves as the central control tower for the entire program execution: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5"/>
          <p:cNvSpPr txBox="1"/>
          <p:nvPr/>
        </p:nvSpPr>
        <p:spPr>
          <a:xfrm>
            <a:off x="6605587" y="2404764"/>
            <a:ext cx="4745593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4FFD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Behind-The-Scenes Loop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5"/>
          <p:cNvSpPr txBox="1"/>
          <p:nvPr/>
        </p:nvSpPr>
        <p:spPr>
          <a:xfrm>
            <a:off x="6605587" y="2776239"/>
            <a:ext cx="4519612" cy="752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When the user triggers the macro, Excel runs a background automation script that directly navigates the SAP GUI in real-time.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5"/>
          <p:cNvSpPr txBox="1"/>
          <p:nvPr/>
        </p:nvSpPr>
        <p:spPr>
          <a:xfrm>
            <a:off x="6605587" y="3786187"/>
            <a:ext cx="4519612" cy="752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PDFs are seamlessly structured and generated directly inside the PC's designated local folders while the operator stays focused on higher-value analysis.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5"/>
          <p:cNvSpPr txBox="1"/>
          <p:nvPr/>
        </p:nvSpPr>
        <p:spPr>
          <a:xfrm>
            <a:off x="1400175" y="3535263"/>
            <a:ext cx="4186200" cy="19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Column A: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Material ID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5"/>
          <p:cNvSpPr txBox="1"/>
          <p:nvPr/>
        </p:nvSpPr>
        <p:spPr>
          <a:xfrm>
            <a:off x="1400175" y="3929062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Column B: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Raw parameters or descriptors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5"/>
          <p:cNvSpPr txBox="1"/>
          <p:nvPr/>
        </p:nvSpPr>
        <p:spPr>
          <a:xfrm>
            <a:off x="1400175" y="4322861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Column C: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Auto-logged Status (Created / N/A / Error)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5"/>
          <p:cNvSpPr txBox="1"/>
          <p:nvPr/>
        </p:nvSpPr>
        <p:spPr>
          <a:xfrm>
            <a:off x="1400175" y="4716660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Column D: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Exported Document ID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76" name="Google Shape;176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66800" y="3559075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7" name="Google Shape;177;p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66800" y="3952875"/>
            <a:ext cx="1428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8" name="Google Shape;178;p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066800" y="4346674"/>
            <a:ext cx="1428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9" name="Google Shape;179;p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066800" y="4740473"/>
            <a:ext cx="190500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5"/>
          <p:cNvSpPr txBox="1"/>
          <p:nvPr/>
        </p:nvSpPr>
        <p:spPr>
          <a:xfrm>
            <a:off x="942975" y="485775"/>
            <a:ext cx="11001375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How It Looks in Practice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5"/>
          <p:cNvSpPr/>
          <p:nvPr/>
        </p:nvSpPr>
        <p:spPr>
          <a:xfrm>
            <a:off x="771525" y="485775"/>
            <a:ext cx="47625" cy="4191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6" name="Google Shape;186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7" name="Google Shape;187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10312" y="1747837"/>
            <a:ext cx="5110162" cy="4000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6"/>
          <p:cNvSpPr txBox="1"/>
          <p:nvPr/>
        </p:nvSpPr>
        <p:spPr>
          <a:xfrm>
            <a:off x="771525" y="2341364"/>
            <a:ext cx="53658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0" i="0" lang="en-US" sz="165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Chronological Action Pipeline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6"/>
          <p:cNvSpPr txBox="1"/>
          <p:nvPr/>
        </p:nvSpPr>
        <p:spPr>
          <a:xfrm>
            <a:off x="771525" y="2693789"/>
            <a:ext cx="5110200" cy="4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A unified workflow connecting Excel interfaces, SAP mainframes, and the local Windows OS environment: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6"/>
          <p:cNvSpPr txBox="1"/>
          <p:nvPr/>
        </p:nvSpPr>
        <p:spPr>
          <a:xfrm>
            <a:off x="1104900" y="3280469"/>
            <a:ext cx="47769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Read:</a:t>
            </a: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Parses raw material lists from Column B.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6"/>
          <p:cNvSpPr txBox="1"/>
          <p:nvPr/>
        </p:nvSpPr>
        <p:spPr>
          <a:xfrm>
            <a:off x="1104900" y="3630959"/>
            <a:ext cx="4776900" cy="4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Navigate:</a:t>
            </a: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Directs SAP screens to open specific PDF/Document links.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6"/>
          <p:cNvSpPr txBox="1"/>
          <p:nvPr/>
        </p:nvSpPr>
        <p:spPr>
          <a:xfrm>
            <a:off x="1104900" y="4217640"/>
            <a:ext cx="4776900" cy="4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Automate:</a:t>
            </a: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Intercepts Windows Save Dialogs to input file names automatically.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6"/>
          <p:cNvSpPr txBox="1"/>
          <p:nvPr/>
        </p:nvSpPr>
        <p:spPr>
          <a:xfrm>
            <a:off x="1104900" y="4804320"/>
            <a:ext cx="47769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Log:</a:t>
            </a: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Updates Columns C &amp; D with status logs and document IDs.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94" name="Google Shape;194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71525" y="3304282"/>
            <a:ext cx="8572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5" name="Google Shape;195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1525" y="3654772"/>
            <a:ext cx="11430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6" name="Google Shape;196;p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71525" y="4241452"/>
            <a:ext cx="11430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7" name="Google Shape;197;p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71525" y="4828133"/>
            <a:ext cx="133350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6"/>
          <p:cNvSpPr txBox="1"/>
          <p:nvPr/>
        </p:nvSpPr>
        <p:spPr>
          <a:xfrm>
            <a:off x="942975" y="485775"/>
            <a:ext cx="11001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Macro Workflow: From Excel to Local Storage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6"/>
          <p:cNvSpPr/>
          <p:nvPr/>
        </p:nvSpPr>
        <p:spPr>
          <a:xfrm>
            <a:off x="771525" y="485775"/>
            <a:ext cx="47700" cy="4002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6"/>
          <p:cNvSpPr txBox="1"/>
          <p:nvPr/>
        </p:nvSpPr>
        <p:spPr>
          <a:xfrm>
            <a:off x="771525" y="6467475"/>
            <a:ext cx="45243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Conceptual workflow built in Canva; no real SAP screens or company data exposed.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1" name="Google Shape;201;p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286500" y="2162175"/>
            <a:ext cx="5133975" cy="3309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06" name="Google Shape;206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7" name="Google Shape;207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2543175"/>
            <a:ext cx="3390900" cy="2428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8" name="Google Shape;208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400550" y="2543175"/>
            <a:ext cx="3390900" cy="2428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9" name="Google Shape;209;p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29575" y="2543175"/>
            <a:ext cx="3390900" cy="2428875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7"/>
          <p:cNvSpPr txBox="1"/>
          <p:nvPr/>
        </p:nvSpPr>
        <p:spPr>
          <a:xfrm>
            <a:off x="946785" y="3400425"/>
            <a:ext cx="30403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Excel Engine (VBA)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7"/>
          <p:cNvSpPr txBox="1"/>
          <p:nvPr/>
        </p:nvSpPr>
        <p:spPr>
          <a:xfrm>
            <a:off x="1019175" y="3724275"/>
            <a:ext cx="2895600" cy="885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49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Designed using Visual Basic for Applications to parse target document pools, handle logical branching, and write back execution statuses.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7"/>
          <p:cNvSpPr txBox="1"/>
          <p:nvPr/>
        </p:nvSpPr>
        <p:spPr>
          <a:xfrm>
            <a:off x="4575810" y="3400425"/>
            <a:ext cx="30403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SAP GUI Scripting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7"/>
          <p:cNvSpPr txBox="1"/>
          <p:nvPr/>
        </p:nvSpPr>
        <p:spPr>
          <a:xfrm>
            <a:off x="4648200" y="3724275"/>
            <a:ext cx="2895600" cy="885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49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Interfaces directly with SAP's native Scripting API, enabling the Excel macro to programmatically control standard screens, grids, and tabs.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7"/>
          <p:cNvSpPr txBox="1"/>
          <p:nvPr/>
        </p:nvSpPr>
        <p:spPr>
          <a:xfrm>
            <a:off x="8204835" y="3400425"/>
            <a:ext cx="30403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Windows OS API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7"/>
          <p:cNvSpPr txBox="1"/>
          <p:nvPr/>
        </p:nvSpPr>
        <p:spPr>
          <a:xfrm>
            <a:off x="8277225" y="3724275"/>
            <a:ext cx="2895600" cy="885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49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Utilizes low-level Windows API commands to capture print-to-PDF save prompts, auto-typing destination file paths without manual clicking.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16" name="Google Shape;216;p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324100" y="2828925"/>
            <a:ext cx="2857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7" name="Google Shape;217;p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857875" y="2828925"/>
            <a:ext cx="4762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8" name="Google Shape;218;p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9510712" y="2828925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7"/>
          <p:cNvSpPr txBox="1"/>
          <p:nvPr/>
        </p:nvSpPr>
        <p:spPr>
          <a:xfrm>
            <a:off x="942975" y="485775"/>
            <a:ext cx="11001375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How It Was Built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7"/>
          <p:cNvSpPr/>
          <p:nvPr/>
        </p:nvSpPr>
        <p:spPr>
          <a:xfrm>
            <a:off x="771525" y="485775"/>
            <a:ext cx="47625" cy="4191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25" name="Google Shape;225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6" name="Google Shape;226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335850" y="1157743"/>
            <a:ext cx="2519362" cy="200203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7" name="Google Shape;227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836312" y="1157743"/>
            <a:ext cx="2519362" cy="200203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8" name="Google Shape;228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042100" y="3698219"/>
            <a:ext cx="2519362" cy="200203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9" name="Google Shape;229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98862" y="3698219"/>
            <a:ext cx="2519362" cy="2002035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8"/>
          <p:cNvSpPr txBox="1"/>
          <p:nvPr/>
        </p:nvSpPr>
        <p:spPr>
          <a:xfrm>
            <a:off x="1554925" y="1862593"/>
            <a:ext cx="21852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modMain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8"/>
          <p:cNvSpPr txBox="1"/>
          <p:nvPr/>
        </p:nvSpPr>
        <p:spPr>
          <a:xfrm>
            <a:off x="1497325" y="2167399"/>
            <a:ext cx="2300400" cy="86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5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The control hub. Handles loop bounds, coordinates input datasets, maps target arrays, and initiates core run sequences.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8"/>
          <p:cNvSpPr txBox="1"/>
          <p:nvPr/>
        </p:nvSpPr>
        <p:spPr>
          <a:xfrm>
            <a:off x="5055387" y="1862593"/>
            <a:ext cx="21852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modSAP_Helpers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8"/>
          <p:cNvSpPr txBox="1"/>
          <p:nvPr/>
        </p:nvSpPr>
        <p:spPr>
          <a:xfrm>
            <a:off x="5055387" y="2167393"/>
            <a:ext cx="2081100" cy="86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5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Establishes SAP session hooks, manipulates text grids, triggers script transactions, and safely checks active windows.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8"/>
          <p:cNvSpPr txBox="1"/>
          <p:nvPr/>
        </p:nvSpPr>
        <p:spPr>
          <a:xfrm>
            <a:off x="3261175" y="4403069"/>
            <a:ext cx="21852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modWinAPI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8"/>
          <p:cNvSpPr txBox="1"/>
          <p:nvPr/>
        </p:nvSpPr>
        <p:spPr>
          <a:xfrm>
            <a:off x="3261175" y="4707869"/>
            <a:ext cx="2081100" cy="86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5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Employs FindWindow and low-level SendKeys API to bypass print dialog prompts, forcing path entry and saving.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8"/>
          <p:cNvSpPr txBox="1"/>
          <p:nvPr/>
        </p:nvSpPr>
        <p:spPr>
          <a:xfrm>
            <a:off x="6917937" y="4403069"/>
            <a:ext cx="21852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modCore_Workflow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8"/>
          <p:cNvSpPr txBox="1"/>
          <p:nvPr/>
        </p:nvSpPr>
        <p:spPr>
          <a:xfrm>
            <a:off x="6917937" y="4707869"/>
            <a:ext cx="2081100" cy="86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5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Implements core business logic rules, text parsing algorithms, directory verification, and cell update logs.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38" name="Google Shape;238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554925" y="1405393"/>
            <a:ext cx="36195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9" name="Google Shape;239;p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055387" y="1405393"/>
            <a:ext cx="36195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0" name="Google Shape;240;p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3261175" y="3945869"/>
            <a:ext cx="28575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1" name="Google Shape;241;p8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917937" y="3945869"/>
            <a:ext cx="361950" cy="285750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Google Shape;242;p8"/>
          <p:cNvSpPr txBox="1"/>
          <p:nvPr/>
        </p:nvSpPr>
        <p:spPr>
          <a:xfrm>
            <a:off x="942975" y="485775"/>
            <a:ext cx="11001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Module Architecture: Structured VBA Codebase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8"/>
          <p:cNvSpPr/>
          <p:nvPr/>
        </p:nvSpPr>
        <p:spPr>
          <a:xfrm>
            <a:off x="771525" y="485775"/>
            <a:ext cx="47700" cy="4002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8"/>
          <p:cNvSpPr txBox="1"/>
          <p:nvPr/>
        </p:nvSpPr>
        <p:spPr>
          <a:xfrm>
            <a:off x="771525" y="6467475"/>
            <a:ext cx="47817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Clean, modular VBA that can be completely reused for similar SAP-Excel PDF workflows.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45" name="Google Shape;245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36787" y="1157744"/>
            <a:ext cx="2519362" cy="2002035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8"/>
          <p:cNvSpPr txBox="1"/>
          <p:nvPr/>
        </p:nvSpPr>
        <p:spPr>
          <a:xfrm>
            <a:off x="8555862" y="1862594"/>
            <a:ext cx="21852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mod</a:t>
            </a:r>
            <a:r>
              <a:rPr lang="en-US" sz="135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OLE_Shield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8"/>
          <p:cNvSpPr txBox="1"/>
          <p:nvPr/>
        </p:nvSpPr>
        <p:spPr>
          <a:xfrm>
            <a:off x="8555838" y="2167375"/>
            <a:ext cx="2249400" cy="86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5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Provides temporary OLE message handling during long-running SAP GUI automation to improve unattended execution.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48" name="Google Shape;248;p8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8555825" y="1376340"/>
            <a:ext cx="361950" cy="3438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53" name="Google Shape;253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9"/>
          <p:cNvSpPr txBox="1"/>
          <p:nvPr/>
        </p:nvSpPr>
        <p:spPr>
          <a:xfrm>
            <a:off x="771525" y="1868983"/>
            <a:ext cx="53658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0" i="0" lang="en-US" sz="165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Preventing "Server Busy" Deadlocks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9"/>
          <p:cNvSpPr txBox="1"/>
          <p:nvPr/>
        </p:nvSpPr>
        <p:spPr>
          <a:xfrm>
            <a:off x="771525" y="2221408"/>
            <a:ext cx="5110200" cy="4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Bypassing standard Windows timeout barriers during slow SAP database queries: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9"/>
          <p:cNvSpPr txBox="1"/>
          <p:nvPr/>
        </p:nvSpPr>
        <p:spPr>
          <a:xfrm>
            <a:off x="1104900" y="2808089"/>
            <a:ext cx="4776900" cy="4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The Bottleneck:</a:t>
            </a: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Database delays or network latency when retrieving PDFs blocks Excel's synchronous execution thread.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9"/>
          <p:cNvSpPr txBox="1"/>
          <p:nvPr/>
        </p:nvSpPr>
        <p:spPr>
          <a:xfrm>
            <a:off x="1104900" y="3394769"/>
            <a:ext cx="4776900" cy="7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The OLE Trigger:</a:t>
            </a: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If Excel blocks for over 30 seconds, Windows forces a modal alert: </a:t>
            </a:r>
            <a:r>
              <a:rPr b="0" i="1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"Microsoft Excel is waiting for another application…"</a:t>
            </a: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, freezing the unattended script.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9"/>
          <p:cNvSpPr txBox="1"/>
          <p:nvPr/>
        </p:nvSpPr>
        <p:spPr>
          <a:xfrm>
            <a:off x="1104900" y="4217640"/>
            <a:ext cx="4776900" cy="7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Solution:</a:t>
            </a: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Implemented Windows API–based dialog management to identify and dismiss the Windows OLE dialog before continuing unattended SAP automation.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59" name="Google Shape;259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2831901"/>
            <a:ext cx="1333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0" name="Google Shape;260;p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71525" y="3418582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1" name="Google Shape;261;p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1525" y="4241452"/>
            <a:ext cx="171450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9"/>
          <p:cNvSpPr txBox="1"/>
          <p:nvPr/>
        </p:nvSpPr>
        <p:spPr>
          <a:xfrm>
            <a:off x="942975" y="485775"/>
            <a:ext cx="110013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Technical Challenge: OLE Dialogs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9"/>
          <p:cNvSpPr/>
          <p:nvPr/>
        </p:nvSpPr>
        <p:spPr>
          <a:xfrm>
            <a:off x="771525" y="485775"/>
            <a:ext cx="47700" cy="4002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9"/>
          <p:cNvSpPr txBox="1"/>
          <p:nvPr/>
        </p:nvSpPr>
        <p:spPr>
          <a:xfrm>
            <a:off x="771525" y="6467475"/>
            <a:ext cx="77595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Implemented Windows AP</a:t>
            </a:r>
            <a:r>
              <a:rPr lang="en-US" sz="9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I-based dialog</a:t>
            </a:r>
            <a:r>
              <a:rPr b="0" i="0" lang="en-US" sz="90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I </a:t>
            </a:r>
            <a:r>
              <a:rPr lang="en-US" sz="900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management </a:t>
            </a:r>
            <a:r>
              <a:rPr b="0" i="0" lang="en-US" sz="900" u="none" cap="none" strike="noStrike">
                <a:solidFill>
                  <a:srgbClr val="4B5563"/>
                </a:solidFill>
                <a:latin typeface="Inter"/>
                <a:ea typeface="Inter"/>
                <a:cs typeface="Inter"/>
                <a:sym typeface="Inter"/>
              </a:rPr>
              <a:t>to automatically detect and dismiss OLE dialogs during unattended SAP automation.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5" name="Google Shape;265;p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60275" y="1939576"/>
            <a:ext cx="5410200" cy="2114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70" name="Google Shape;270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45975" y="45975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1" name="Google Shape;271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2728912"/>
            <a:ext cx="4259460" cy="2152650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10"/>
          <p:cNvSpPr txBox="1"/>
          <p:nvPr/>
        </p:nvSpPr>
        <p:spPr>
          <a:xfrm>
            <a:off x="1162050" y="3119437"/>
            <a:ext cx="3478500" cy="12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0"/>
              <a:buFont typeface="Arial"/>
              <a:buNone/>
            </a:pPr>
            <a:r>
              <a:rPr b="1" i="0" lang="en-US" sz="8250" u="none" cap="none" strike="noStrike">
                <a:solidFill>
                  <a:srgbClr val="64FFDA"/>
                </a:solidFill>
                <a:latin typeface="Montserrat"/>
                <a:ea typeface="Montserrat"/>
                <a:cs typeface="Montserrat"/>
                <a:sym typeface="Montserrat"/>
              </a:rPr>
              <a:t>80%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10"/>
          <p:cNvSpPr txBox="1"/>
          <p:nvPr/>
        </p:nvSpPr>
        <p:spPr>
          <a:xfrm>
            <a:off x="1162050" y="4262437"/>
            <a:ext cx="34785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Operational Time Saved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10"/>
          <p:cNvSpPr txBox="1"/>
          <p:nvPr/>
        </p:nvSpPr>
        <p:spPr>
          <a:xfrm>
            <a:off x="5507235" y="2757487"/>
            <a:ext cx="66849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Reduced manual processing time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10"/>
          <p:cNvSpPr txBox="1"/>
          <p:nvPr/>
        </p:nvSpPr>
        <p:spPr>
          <a:xfrm>
            <a:off x="5507235" y="3195637"/>
            <a:ext cx="6389400" cy="153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A typical PDF exporting task via SAP can take</a:t>
            </a:r>
            <a:endParaRPr b="0" i="0" sz="1350" u="none" cap="none" strike="noStrike">
              <a:solidFill>
                <a:srgbClr val="CDD6F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4325" lvl="0" marL="45720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CDD6F4"/>
              </a:buClr>
              <a:buSzPts val="1350"/>
              <a:buFont typeface="Inter"/>
              <a:buChar char="●"/>
            </a:pPr>
            <a:r>
              <a:rPr b="0" i="0" lang="en-US" sz="135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Manual efforts - 3 minutes * 1000 PDFs = 50 hours</a:t>
            </a:r>
            <a:endParaRPr b="0" i="0" sz="1350" u="none" cap="none" strike="noStrike">
              <a:solidFill>
                <a:srgbClr val="CDD6F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4325" lvl="0" marL="45720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CDD6F4"/>
              </a:buClr>
              <a:buSzPts val="1350"/>
              <a:buFont typeface="Inter"/>
              <a:buChar char="●"/>
            </a:pPr>
            <a:r>
              <a:rPr b="0" i="0" lang="en-US" sz="135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Automation script - 30 seconds * 1000 PDFs = 8.3 hours</a:t>
            </a:r>
            <a:endParaRPr b="0" i="0" sz="1350" u="none" cap="none" strike="noStrike">
              <a:solidFill>
                <a:srgbClr val="CDD6F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4325" lvl="0" marL="45720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CDD6F4"/>
              </a:buClr>
              <a:buSzPts val="1350"/>
              <a:buFont typeface="Inter"/>
              <a:buChar char="➢"/>
            </a:pPr>
            <a:r>
              <a:rPr b="0" i="0" lang="en-US" sz="135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In this case, it saves about 83% of the time ❗ </a:t>
            </a:r>
            <a:endParaRPr b="0" i="0" sz="1350" u="none" cap="none" strike="noStrike">
              <a:solidFill>
                <a:srgbClr val="CDD6F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endParaRPr b="0" i="0" sz="1350" u="none" cap="none" strike="noStrike">
              <a:solidFill>
                <a:srgbClr val="CDD6F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76" name="Google Shape;276;p10"/>
          <p:cNvSpPr txBox="1"/>
          <p:nvPr/>
        </p:nvSpPr>
        <p:spPr>
          <a:xfrm>
            <a:off x="962025" y="581025"/>
            <a:ext cx="10981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System Impact Metrics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10"/>
          <p:cNvSpPr/>
          <p:nvPr/>
        </p:nvSpPr>
        <p:spPr>
          <a:xfrm>
            <a:off x="771525" y="581025"/>
            <a:ext cx="47700" cy="4668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82" name="Google Shape;282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11"/>
          <p:cNvSpPr txBox="1"/>
          <p:nvPr/>
        </p:nvSpPr>
        <p:spPr>
          <a:xfrm>
            <a:off x="2143125" y="2468165"/>
            <a:ext cx="8239125" cy="5018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Advanced VBA &amp; Excel Architectures: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Building reliable, resilient macros that manipulate enterprise datasets cleanly and efficiently.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11"/>
          <p:cNvSpPr txBox="1"/>
          <p:nvPr/>
        </p:nvSpPr>
        <p:spPr>
          <a:xfrm>
            <a:off x="2143125" y="3112889"/>
            <a:ext cx="8239125" cy="5018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ERP System Automation: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Gaining deep practical scripting expertise with legacy ERP systems (SAP), overcoming interface constraints.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11"/>
          <p:cNvSpPr txBox="1"/>
          <p:nvPr/>
        </p:nvSpPr>
        <p:spPr>
          <a:xfrm>
            <a:off x="2143125" y="3757612"/>
            <a:ext cx="8239125" cy="5018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Process &amp; System Design: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Analyzing real-world human bottlenecks and translating them into reliable, repeatable software solutions.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11"/>
          <p:cNvSpPr txBox="1"/>
          <p:nvPr/>
        </p:nvSpPr>
        <p:spPr>
          <a:xfrm>
            <a:off x="2143125" y="4402335"/>
            <a:ext cx="8239125" cy="5018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1" i="0" lang="en-US" sz="12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Clean &amp; Modular Codebase:</a:t>
            </a: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 Organizing codebase structures into isolated logical modules for easy maintenance, extension, and deployment.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87" name="Google Shape;287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809750" y="2491978"/>
            <a:ext cx="2190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8" name="Google Shape;288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809750" y="3136701"/>
            <a:ext cx="2190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9" name="Google Shape;289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809750" y="3781425"/>
            <a:ext cx="2190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0" name="Google Shape;29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809750" y="4426148"/>
            <a:ext cx="219075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11"/>
          <p:cNvSpPr txBox="1"/>
          <p:nvPr/>
        </p:nvSpPr>
        <p:spPr>
          <a:xfrm>
            <a:off x="942975" y="485775"/>
            <a:ext cx="110013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Demonstrated Aspects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11"/>
          <p:cNvSpPr/>
          <p:nvPr/>
        </p:nvSpPr>
        <p:spPr>
          <a:xfrm>
            <a:off x="771525" y="485775"/>
            <a:ext cx="47625" cy="4191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97" name="Google Shape;297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8" name="Google Shape;298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2377826"/>
            <a:ext cx="5110162" cy="27595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9" name="Google Shape;299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10312" y="2377826"/>
            <a:ext cx="5110162" cy="2759571"/>
          </a:xfrm>
          <a:prstGeom prst="rect">
            <a:avLst/>
          </a:prstGeom>
          <a:noFill/>
          <a:ln>
            <a:noFill/>
          </a:ln>
        </p:spPr>
      </p:pic>
      <p:sp>
        <p:nvSpPr>
          <p:cNvPr id="300" name="Google Shape;300;p12"/>
          <p:cNvSpPr txBox="1"/>
          <p:nvPr/>
        </p:nvSpPr>
        <p:spPr>
          <a:xfrm>
            <a:off x="1066800" y="2673101"/>
            <a:ext cx="4745593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4FFD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System Scaling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Google Shape;301;p12"/>
          <p:cNvSpPr txBox="1"/>
          <p:nvPr/>
        </p:nvSpPr>
        <p:spPr>
          <a:xfrm>
            <a:off x="1066800" y="3044576"/>
            <a:ext cx="4519612" cy="752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The code architecture is modularly decoupled, meaning it can be expanded to automate other core business procedures: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12"/>
          <p:cNvSpPr txBox="1"/>
          <p:nvPr/>
        </p:nvSpPr>
        <p:spPr>
          <a:xfrm>
            <a:off x="6605587" y="2673101"/>
            <a:ext cx="4745593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4FFD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Advanced Features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12"/>
          <p:cNvSpPr txBox="1"/>
          <p:nvPr/>
        </p:nvSpPr>
        <p:spPr>
          <a:xfrm>
            <a:off x="6605587" y="3044576"/>
            <a:ext cx="4519612" cy="5018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Future development phases can add enterprise-grade reliability and communication protocols: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12"/>
          <p:cNvSpPr txBox="1"/>
          <p:nvPr/>
        </p:nvSpPr>
        <p:spPr>
          <a:xfrm>
            <a:off x="1400175" y="4054524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Expanding to sales orders, shipments, and billing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12"/>
          <p:cNvSpPr txBox="1"/>
          <p:nvPr/>
        </p:nvSpPr>
        <p:spPr>
          <a:xfrm>
            <a:off x="1400175" y="4448323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Direct cloud / Document Management system sync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12"/>
          <p:cNvSpPr txBox="1"/>
          <p:nvPr/>
        </p:nvSpPr>
        <p:spPr>
          <a:xfrm>
            <a:off x="6938962" y="3803600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Enhanced real-time error logging &amp; fail-safes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12"/>
          <p:cNvSpPr txBox="1"/>
          <p:nvPr/>
        </p:nvSpPr>
        <p:spPr>
          <a:xfrm>
            <a:off x="6938962" y="4197399"/>
            <a:ext cx="4186237" cy="2509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498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b="0" i="0" lang="en-US" sz="1275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Windows system dialog or Teams status triggers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308" name="Google Shape;308;p1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66800" y="407833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9" name="Google Shape;309;p1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66800" y="4472136"/>
            <a:ext cx="2190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0" name="Google Shape;310;p1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605587" y="3827412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1" name="Google Shape;311;p12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605587" y="4221212"/>
            <a:ext cx="171450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312" name="Google Shape;312;p12"/>
          <p:cNvSpPr txBox="1"/>
          <p:nvPr/>
        </p:nvSpPr>
        <p:spPr>
          <a:xfrm>
            <a:off x="942975" y="485775"/>
            <a:ext cx="11001375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Where This Can Go Next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12"/>
          <p:cNvSpPr/>
          <p:nvPr/>
        </p:nvSpPr>
        <p:spPr>
          <a:xfrm>
            <a:off x="771525" y="485775"/>
            <a:ext cx="47625" cy="4191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32B"/>
        </a:solidFill>
      </p:bgPr>
    </p:bg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18" name="Google Shape;318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0125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19" name="Google Shape;319;p13"/>
          <p:cNvSpPr txBox="1"/>
          <p:nvPr/>
        </p:nvSpPr>
        <p:spPr>
          <a:xfrm>
            <a:off x="2777063" y="2006794"/>
            <a:ext cx="9553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https://media.licdn.com/dms/image/v2/C4E12AQF8fb_Io9YHyA/article-cover_image-shrink_720_1280/article-cover_image-shrink_720_1280/0/1643913705813?e=2147483647&amp;v=beta&amp;t=SoCBKCyrgtjpmqvXqlk6dfCST0lafo6-SdMPMxve7hM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0" name="Google Shape;320;p13"/>
          <p:cNvSpPr txBox="1"/>
          <p:nvPr/>
        </p:nvSpPr>
        <p:spPr>
          <a:xfrm>
            <a:off x="2777025" y="2482334"/>
            <a:ext cx="9553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Source: https://media.licdn.com/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13"/>
          <p:cNvSpPr txBox="1"/>
          <p:nvPr/>
        </p:nvSpPr>
        <p:spPr>
          <a:xfrm>
            <a:off x="962025" y="581025"/>
            <a:ext cx="10981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Image Sources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13"/>
          <p:cNvSpPr/>
          <p:nvPr/>
        </p:nvSpPr>
        <p:spPr>
          <a:xfrm>
            <a:off x="771525" y="581025"/>
            <a:ext cx="47700" cy="466800"/>
          </a:xfrm>
          <a:prstGeom prst="rect">
            <a:avLst/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23" name="Google Shape;323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42925" y="1922999"/>
            <a:ext cx="1650699" cy="862475"/>
          </a:xfrm>
          <a:prstGeom prst="rect">
            <a:avLst/>
          </a:prstGeom>
          <a:noFill/>
          <a:ln>
            <a:noFill/>
          </a:ln>
        </p:spPr>
      </p:pic>
      <p:sp>
        <p:nvSpPr>
          <p:cNvPr id="324" name="Google Shape;324;p13"/>
          <p:cNvSpPr txBox="1"/>
          <p:nvPr/>
        </p:nvSpPr>
        <p:spPr>
          <a:xfrm>
            <a:off x="2777063" y="3593319"/>
            <a:ext cx="95535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https://support.central.insightsoftware.com/support/servlet/rtaImage?eid=ka0UO000000IZjx&amp;feoid=00Nf400000PcwAL&amp;refid=0EMf4000001Jb5w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13"/>
          <p:cNvSpPr txBox="1"/>
          <p:nvPr/>
        </p:nvSpPr>
        <p:spPr>
          <a:xfrm>
            <a:off x="2777025" y="4068859"/>
            <a:ext cx="9553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CDD6F4"/>
                </a:solidFill>
                <a:latin typeface="Inter"/>
                <a:ea typeface="Inter"/>
                <a:cs typeface="Inter"/>
                <a:sym typeface="Inter"/>
              </a:rPr>
              <a:t>Source: https://support.central.insightsoftware.com/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26" name="Google Shape;326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42923" y="3593322"/>
            <a:ext cx="1650700" cy="6451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