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0E5F23-7C7E-4AC9-92F2-5DB6204EFC61}">
  <a:tblStyle styleId="{820E5F23-7C7E-4AC9-92F2-5DB6204EFC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3944d2b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3944d2b7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3944d2e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3944d2e5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3944d2b7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3944d2b7c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3944d2e52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3944d2e52_1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3944d2e5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3944d2e52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7cb4ae31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7cb4ae31b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43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0" Type="http://schemas.openxmlformats.org/officeDocument/2006/relationships/image" Target="../media/image11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31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36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58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9" Type="http://schemas.openxmlformats.org/officeDocument/2006/relationships/image" Target="../media/image39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48.png"/><Relationship Id="rId8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9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40.png"/><Relationship Id="rId8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1.png"/><Relationship Id="rId9" Type="http://schemas.openxmlformats.org/officeDocument/2006/relationships/image" Target="../media/image44.png"/><Relationship Id="rId5" Type="http://schemas.openxmlformats.org/officeDocument/2006/relationships/image" Target="../media/image37.png"/><Relationship Id="rId6" Type="http://schemas.openxmlformats.org/officeDocument/2006/relationships/image" Target="../media/image45.png"/><Relationship Id="rId7" Type="http://schemas.openxmlformats.org/officeDocument/2006/relationships/image" Target="../media/image55.png"/><Relationship Id="rId8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6.png"/><Relationship Id="rId4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53.png"/><Relationship Id="rId9" Type="http://schemas.openxmlformats.org/officeDocument/2006/relationships/image" Target="../media/image59.png"/><Relationship Id="rId5" Type="http://schemas.openxmlformats.org/officeDocument/2006/relationships/image" Target="../media/image54.png"/><Relationship Id="rId6" Type="http://schemas.openxmlformats.org/officeDocument/2006/relationships/image" Target="../media/image56.png"/><Relationship Id="rId7" Type="http://schemas.openxmlformats.org/officeDocument/2006/relationships/image" Target="../media/image60.png"/><Relationship Id="rId8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Relationship Id="rId4" Type="http://schemas.openxmlformats.org/officeDocument/2006/relationships/image" Target="../media/image25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2319337"/>
            <a:ext cx="876109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Automating Document PDFs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</a:t>
            </a:r>
            <a:r>
              <a:rPr b="1" i="0" lang="en-US" sz="43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Excel and SAP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3843337"/>
            <a:ext cx="83439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 portfolio project to reduce manual work in enterprise reporting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771525" y="4491037"/>
            <a:ext cx="952500" cy="476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66800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Manual Bottleneck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66800" y="2942927"/>
            <a:ext cx="4519612" cy="1003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 many enterprise environments, engineers and SCM analysts must manually search, open, and review repetitive records inside legacy SAP GUI systems day in and day out.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05587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Operational Friction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05587" y="2942927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Exporting PDFs individually and writing back tracking references is slow, dull, and prone to costly human typographical errors.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400175" y="415617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Repeatedly opening SAP transactions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400175" y="454997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Finding materials &amp; logs one-by-one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38962" y="390525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Hours wasted on mindless clicks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38962" y="429904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Risk of mismatched files &amp; missing logs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17998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5737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3929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432286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Manual Pages to One-Click PDF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78384"/>
            <a:ext cx="5110162" cy="33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078384"/>
            <a:ext cx="5110162" cy="3339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066800" y="2373659"/>
            <a:ext cx="474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Natural-Language Iteration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66800" y="2726084"/>
            <a:ext cx="4519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Leveraged advanced AI prompts (via Perplexity) to drastically accelerate structural development, design loops, and visual presentation: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05587" y="2373659"/>
            <a:ext cx="474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Strict Human Governance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05587" y="2726084"/>
            <a:ext cx="4519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While AI acted as a highly competent development accelerator, all critical engineering choices remained 100% human-driven: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832987" y="4271660"/>
            <a:ext cx="42909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i="1" lang="en-US" sz="12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AI accelerated documentation, refactoring, and design iterations while all architecture decisions, debugging, SAP integration, testing, and final implementation remained my responsibility. </a:t>
            </a:r>
            <a:r>
              <a:rPr b="0" i="1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400175" y="364420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Sketched complex VBA error traps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400175" y="399469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Formulated robust modular code logic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400175" y="434518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Re-iterated custom UI/UX design layouts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938962" y="364420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Security &amp; local sanitization constraints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938962" y="399469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Deep modular layout and API naming design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66801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01850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36899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366801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05587" y="4018508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Development Style: AI-Assisted "Vibe Coding"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71525" y="2604789"/>
            <a:ext cx="5365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Quantified Impact</a:t>
            </a:r>
            <a:endParaRPr/>
          </a:p>
        </p:txBody>
      </p:sp>
      <p:graphicFrame>
        <p:nvGraphicFramePr>
          <p:cNvPr id="139" name="Google Shape;139;p16"/>
          <p:cNvGraphicFramePr/>
          <p:nvPr/>
        </p:nvGraphicFramePr>
        <p:xfrm>
          <a:off x="6310312" y="23476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{820E5F23-7C7E-4AC9-92F2-5DB6204EFC61}</a:tableStyleId>
              </a:tblPr>
              <a:tblGrid>
                <a:gridCol w="1228725"/>
                <a:gridCol w="1840700"/>
                <a:gridCol w="2040725"/>
              </a:tblGrid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Operation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Before (Manual)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After (Automated)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Navigation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Slow SAP GUI inputs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Instant Macro automation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File Saving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"Save As" clicks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Automatic paths &amp; names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Logging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tracking entries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Auto-filled status logs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p16"/>
          <p:cNvSpPr txBox="1"/>
          <p:nvPr/>
        </p:nvSpPr>
        <p:spPr>
          <a:xfrm>
            <a:off x="1104900" y="2976264"/>
            <a:ext cx="4776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Reduced Manual Effort </a:t>
            </a: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Reduces hours of repetitive manual printing into a single, background execution click.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04900" y="3620988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Absolute Consistency: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Standardizes naming rules, folders, and outputs without human error.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04900" y="4265711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Traceability: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Every exported file has an exact corresponding logged reference in the Master Excel Sheet.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6310312" y="281910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539037" y="281910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9379743" y="281910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310312" y="3597175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539037" y="3597175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9379743" y="3597175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310312" y="4375249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7539037" y="4375249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9379743" y="4375249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310312" y="515332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539037" y="515332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9379743" y="515332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0007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644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89524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Value &amp; Benefits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066800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Master Parameter Sheet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66800" y="2776239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clean, structured Excel dashboard serves as the central control tower for the entire program execution: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605587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Behind-The-Scenes Loop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605587" y="2776239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When the user triggers the macro, Excel runs a background automation script that directly navigates the SAP GUI in real-time.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605587" y="3786187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PDFs are seamlessly structured and generated directly inside the PC's designated local folders while the operator stays focused on higher-value analysis.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400175" y="3535263"/>
            <a:ext cx="418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A: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Material ID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400175" y="3929062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B: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Raw parameters or descriptors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400175" y="4322861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C: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Auto-logged Status (Created / N/A / Error)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400175" y="471666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D: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Exported Document ID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559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395287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346674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6800" y="474047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Looks in Practice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1747837"/>
            <a:ext cx="5110162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71525" y="2341364"/>
            <a:ext cx="536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Chronological Action Pipeline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71525" y="2693789"/>
            <a:ext cx="5110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unified workflow connecting Excel interfaces, SAP mainframes, and the local Windows OS environment: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104900" y="3280469"/>
            <a:ext cx="47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Read: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Parses raw material lists from Column B.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104900" y="3630959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Navigate: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Directs SAP screens to open specific PDF/Document links.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104900" y="4217640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Intercepts Windows Save Dialogs to input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file names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automatically.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104900" y="4804320"/>
            <a:ext cx="47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Log: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Updates Columns C &amp; D with status logs and document IDs.</a:t>
            </a:r>
            <a:endParaRPr/>
          </a:p>
        </p:txBody>
      </p:sp>
      <p:pic>
        <p:nvPicPr>
          <p:cNvPr descr="image.png" id="194" name="Google Shape;1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304282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654772"/>
            <a:ext cx="1143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241452"/>
            <a:ext cx="1143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828133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Macro Workflow: From Excel to Local Storage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771525" y="6467475"/>
            <a:ext cx="45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Conceptual workflow built in Canva; no real SAP screens or company data exposed.</a:t>
            </a:r>
            <a:endParaRPr/>
          </a:p>
        </p:txBody>
      </p:sp>
      <p:pic>
        <p:nvPicPr>
          <p:cNvPr id="201" name="Google Shape;201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86500" y="2162175"/>
            <a:ext cx="5133975" cy="33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957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94678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Excel Engine (VBA)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01917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Designed using Visual Basic for Applications to parse target document pools, handle logical branching, and write back execution statuses.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4575810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SAP GUI Scripting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648200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Interfaces directly with SAP's native Scripting API, enabling the Excel macro to programmatically control standard screens, grids, and tabs.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20483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Windows OS API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827722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Utilizes low-level Windows API commands to capture print-to-PDF save prompts, auto-typing destination file paths without manual clicking.</a:t>
            </a:r>
            <a:endParaRPr/>
          </a:p>
        </p:txBody>
      </p:sp>
      <p:pic>
        <p:nvPicPr>
          <p:cNvPr descr="image.png" id="216" name="Google Shape;21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4100" y="28289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289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0712" y="28289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Was Built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1387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1112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990600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modMain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933000" y="3756725"/>
            <a:ext cx="23004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The control hub. Handles loop bounds, coordinates input datasets, maps target arrays, and initiates core run sequences.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3700462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modSAP_Helpers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3700462" y="375671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Establishes SAP session hooks, manipulates text grids, triggers script transactions, and safely checks active windows.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410325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modWinAPI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410325" y="375671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Employs FindWindow and low-level SendKeys API to bypass print dialog prompts, forcing path entry and saving.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9120187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modCore_Workflow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9120187" y="375671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Implements core business logic rules, text parsing algorithms, directory verification, and cell update logs.</a:t>
            </a:r>
            <a:endParaRPr/>
          </a:p>
        </p:txBody>
      </p:sp>
      <p:pic>
        <p:nvPicPr>
          <p:cNvPr descr="image.png" id="238" name="Google Shape;23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2994719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0462" y="2994719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0325" y="2994719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20187" y="2994719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Module Architecture: Structured VBA Codebase</a:t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771525" y="6467475"/>
            <a:ext cx="478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Clean, modular VBA that can be completely reused for similar SAP-Excel PDF workflows.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771525" y="1868983"/>
            <a:ext cx="536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Preventing "Server Busy" Deadlocks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771525" y="2221408"/>
            <a:ext cx="5110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Bypassing standard Windows timeout barriers during slow SAP database queries: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104900" y="2808089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Bottleneck: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Database delays or network latency when retrieving PDFs blocks Excel's synchronous execution thread.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104900" y="3394769"/>
            <a:ext cx="47769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OLE Trigger: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If Excel blocks for over 30 seconds, Windows forces a modal alert: </a:t>
            </a:r>
            <a:r>
              <a:rPr b="0" i="1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i="1"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Microsoft Excel is waiting for another application…</a:t>
            </a:r>
            <a:r>
              <a:rPr b="0" i="1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, freezing the unattended script.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104900" y="4217640"/>
            <a:ext cx="47769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Implemented Windows API–based dialog detection to automatically handle native OLE and "Save As PDF" dialogs, enabling reliable unattended SAP document exports despite Windows modal dialogs.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104900" y="5346709"/>
            <a:ext cx="47769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Instant Auto-Enter: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Detects and automatically dismisses the Windows OLE dialog when it appears before the "Save As PDF" dialog, preventing the unattended automation from stalling. </a:t>
            </a:r>
            <a:endParaRPr/>
          </a:p>
        </p:txBody>
      </p:sp>
      <p:pic>
        <p:nvPicPr>
          <p:cNvPr descr="image.png" id="256" name="Google Shape;25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31901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41858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4145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370522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Challenge: OLE Dialogs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771525" y="6467475"/>
            <a:ext cx="7029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Implemented Windows API polling to automatically detect and dismiss OLE dialogs during unattended SAP automation. </a:t>
            </a:r>
            <a:endParaRPr/>
          </a:p>
        </p:txBody>
      </p:sp>
      <p:pic>
        <p:nvPicPr>
          <p:cNvPr id="263" name="Google Shape;26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60275" y="1939576"/>
            <a:ext cx="541020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36613" y="4662651"/>
            <a:ext cx="311467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/>
          <p:nvPr/>
        </p:nvSpPr>
        <p:spPr>
          <a:xfrm>
            <a:off x="9451300" y="3750751"/>
            <a:ext cx="1947900" cy="1883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“Auto-press”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pop up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975" y="45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28912"/>
            <a:ext cx="425946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1162050" y="3119437"/>
            <a:ext cx="3478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80%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1162050" y="4262437"/>
            <a:ext cx="347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 Time Saved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5507235" y="2757487"/>
            <a:ext cx="66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Reduced manual processing time 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5507235" y="3195637"/>
            <a:ext cx="63894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typical PDF exporting task via SAP can take</a:t>
            </a:r>
            <a:endParaRPr sz="1350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●"/>
            </a:pPr>
            <a:r>
              <a:rPr lang="en-US" sz="13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Manual efforts - 3 minutes * 1000 PDFs = 50 hours</a:t>
            </a:r>
            <a:endParaRPr sz="1350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●"/>
            </a:pPr>
            <a:r>
              <a:rPr lang="en-US" sz="13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Automation script - 30 seconds * 1000 PDFs = 8.3 hours</a:t>
            </a:r>
            <a:endParaRPr sz="1350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➢"/>
            </a:pPr>
            <a:r>
              <a:rPr lang="en-US" sz="13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 this case, it saves about 83% of the time ❗ </a:t>
            </a:r>
            <a:endParaRPr sz="1350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350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962025" y="581025"/>
            <a:ext cx="109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Impact Metrics</a:t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771525" y="581025"/>
            <a:ext cx="47700" cy="4668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2143125" y="2468165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Advanced VBA &amp; Excel Architectures: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Building reliable, resilient macros that manipulate enterprise datasets cleanly and efficiently.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2143125" y="3112889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ERP System Automation: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Gaining deep practical scripting expertise with legacy ERP systems (SAP), overcoming interface constraints.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2143125" y="3757612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 &amp; System Design: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Analyzing real-world human bottlenecks and translating them into reliable, repeatable software solutions.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2143125" y="4402335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 &amp; Modular Codebase: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Organizing codebase structures into isolated logical modules for easy maintenance, extension, and deployment.</a:t>
            </a:r>
            <a:endParaRPr/>
          </a:p>
        </p:txBody>
      </p:sp>
      <p:pic>
        <p:nvPicPr>
          <p:cNvPr descr="image.png" id="287" name="Google Shape;2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49197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3670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814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426148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/>
        </p:nvSpPr>
        <p:spPr>
          <a:xfrm>
            <a:off x="942975" y="485775"/>
            <a:ext cx="1100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Demonstrated Aspects</a:t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1066800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 Scaling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1066800" y="3044576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The code architecture is modularly decoupled, meaning it can be expanded to automate other core business procedures: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6605587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Advanced Features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6605587" y="3044576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Future development phases can add enterprise-grade reliability and communication protocols: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1400175" y="405452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Expanding to sales orders, shipments, and billing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1400175" y="444832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Direct cloud / Document Management system sync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6938962" y="380360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Enhanced real-time error logging &amp; fail-safes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6938962" y="419739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Windows system dialog or Teams status triggers</a:t>
            </a:r>
            <a:endParaRPr/>
          </a:p>
        </p:txBody>
      </p:sp>
      <p:pic>
        <p:nvPicPr>
          <p:cNvPr descr="image.png" id="308" name="Google Shape;30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078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47213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3827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42212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Where This Can Go Next</a:t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2777063" y="2006794"/>
            <a:ext cx="955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https://media.licdn.com/dms/image/v2/C4E12AQF8fb_Io9YHyA/article-cover_image-shrink_720_1280/article-cover_image-shrink_720_1280/0/1643913705813?e=2147483647&amp;v=beta&amp;t=SoCBKCyrgtjpmqvXqlk6dfCST0lafo6-SdMPMxve7hM</a:t>
            </a:r>
            <a:endParaRPr sz="1000"/>
          </a:p>
        </p:txBody>
      </p:sp>
      <p:sp>
        <p:nvSpPr>
          <p:cNvPr id="320" name="Google Shape;320;p25"/>
          <p:cNvSpPr txBox="1"/>
          <p:nvPr/>
        </p:nvSpPr>
        <p:spPr>
          <a:xfrm>
            <a:off x="2777025" y="2482334"/>
            <a:ext cx="95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962025" y="581025"/>
            <a:ext cx="109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771525" y="581025"/>
            <a:ext cx="47700" cy="4668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925" y="1922999"/>
            <a:ext cx="1650699" cy="8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2777063" y="3593319"/>
            <a:ext cx="9553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https://support.central.insightsoftware.com/support/servlet/rtaImage?eid=ka0UO000000IZjx&amp;feoid=00Nf400000PcwAL&amp;refid=0EMf4000001Jb5w</a:t>
            </a:r>
            <a:endParaRPr sz="1000"/>
          </a:p>
        </p:txBody>
      </p:sp>
      <p:sp>
        <p:nvSpPr>
          <p:cNvPr id="325" name="Google Shape;325;p25"/>
          <p:cNvSpPr txBox="1"/>
          <p:nvPr/>
        </p:nvSpPr>
        <p:spPr>
          <a:xfrm>
            <a:off x="2777025" y="4068859"/>
            <a:ext cx="95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https://support.central.insightsoftware.com/</a:t>
            </a:r>
            <a:endParaRPr sz="1200"/>
          </a:p>
        </p:txBody>
      </p:sp>
      <p:pic>
        <p:nvPicPr>
          <p:cNvPr id="326" name="Google Shape;32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2923" y="3593322"/>
            <a:ext cx="1650700" cy="645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