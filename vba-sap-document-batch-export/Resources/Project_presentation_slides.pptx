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Montserrat SemiBold"/>
      <p:regular r:id="rId20"/>
      <p:bold r:id="rId21"/>
      <p:italic r:id="rId22"/>
      <p:boldItalic r:id="rId23"/>
    </p:embeddedFont>
    <p:embeddedFont>
      <p:font typeface="Inter SemiBold"/>
      <p:regular r:id="rId24"/>
      <p:bold r:id="rId25"/>
      <p:italic r:id="rId26"/>
      <p:boldItalic r:id="rId27"/>
    </p:embeddedFont>
    <p:embeddedFont>
      <p:font typeface="Montserrat"/>
      <p:regular r:id="rId28"/>
      <p:bold r:id="rId29"/>
      <p:italic r:id="rId30"/>
      <p:boldItalic r:id="rId31"/>
    </p:embeddedFont>
    <p:embeddedFont>
      <p:font typeface="Inter"/>
      <p:regular r:id="rId32"/>
      <p:bold r:id="rId33"/>
      <p:italic r:id="rId34"/>
      <p:boldItalic r:id="rId35"/>
    </p:embeddedFont>
    <p:embeddedFont>
      <p:font typeface="Inter Medium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40" roundtripDataSignature="AMtx7mjeRpk5SY0XNKnYHbAOew1fsA+c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4E32462-33DC-4FDF-B0B4-B4D10464579B}">
  <a:tblStyle styleId="{64E32462-33DC-4FDF-B0B4-B4D10464579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customschemas.google.com/relationships/presentationmetadata" Target="metadata"/><Relationship Id="rId20" Type="http://schemas.openxmlformats.org/officeDocument/2006/relationships/font" Target="fonts/MontserratSemiBold-regular.fntdata"/><Relationship Id="rId22" Type="http://schemas.openxmlformats.org/officeDocument/2006/relationships/font" Target="fonts/MontserratSemiBold-italic.fntdata"/><Relationship Id="rId21" Type="http://schemas.openxmlformats.org/officeDocument/2006/relationships/font" Target="fonts/MontserratSemiBold-bold.fntdata"/><Relationship Id="rId24" Type="http://schemas.openxmlformats.org/officeDocument/2006/relationships/font" Target="fonts/InterSemiBold-regular.fntdata"/><Relationship Id="rId23" Type="http://schemas.openxmlformats.org/officeDocument/2006/relationships/font" Target="fonts/MontserratSemiBold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SemiBold-italic.fntdata"/><Relationship Id="rId25" Type="http://schemas.openxmlformats.org/officeDocument/2006/relationships/font" Target="fonts/InterSemiBold-bold.fntdata"/><Relationship Id="rId28" Type="http://schemas.openxmlformats.org/officeDocument/2006/relationships/font" Target="fonts/Montserrat-regular.fntdata"/><Relationship Id="rId27" Type="http://schemas.openxmlformats.org/officeDocument/2006/relationships/font" Target="fonts/InterSemiBold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Montserrat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Montserrat-boldItalic.fntdata"/><Relationship Id="rId30" Type="http://schemas.openxmlformats.org/officeDocument/2006/relationships/font" Target="fonts/Montserrat-italic.fntdata"/><Relationship Id="rId11" Type="http://schemas.openxmlformats.org/officeDocument/2006/relationships/slide" Target="slides/slide5.xml"/><Relationship Id="rId33" Type="http://schemas.openxmlformats.org/officeDocument/2006/relationships/font" Target="fonts/Inter-bold.fntdata"/><Relationship Id="rId10" Type="http://schemas.openxmlformats.org/officeDocument/2006/relationships/slide" Target="slides/slide4.xml"/><Relationship Id="rId32" Type="http://schemas.openxmlformats.org/officeDocument/2006/relationships/font" Target="fonts/Inter-regular.fntdata"/><Relationship Id="rId13" Type="http://schemas.openxmlformats.org/officeDocument/2006/relationships/slide" Target="slides/slide7.xml"/><Relationship Id="rId35" Type="http://schemas.openxmlformats.org/officeDocument/2006/relationships/font" Target="fonts/Inter-boldItalic.fntdata"/><Relationship Id="rId12" Type="http://schemas.openxmlformats.org/officeDocument/2006/relationships/slide" Target="slides/slide6.xml"/><Relationship Id="rId34" Type="http://schemas.openxmlformats.org/officeDocument/2006/relationships/font" Target="fonts/Inter-italic.fntdata"/><Relationship Id="rId15" Type="http://schemas.openxmlformats.org/officeDocument/2006/relationships/slide" Target="slides/slide9.xml"/><Relationship Id="rId37" Type="http://schemas.openxmlformats.org/officeDocument/2006/relationships/font" Target="fonts/InterMedium-bold.fntdata"/><Relationship Id="rId14" Type="http://schemas.openxmlformats.org/officeDocument/2006/relationships/slide" Target="slides/slide8.xml"/><Relationship Id="rId36" Type="http://schemas.openxmlformats.org/officeDocument/2006/relationships/font" Target="fonts/InterMedium-regular.fntdata"/><Relationship Id="rId17" Type="http://schemas.openxmlformats.org/officeDocument/2006/relationships/slide" Target="slides/slide11.xml"/><Relationship Id="rId39" Type="http://schemas.openxmlformats.org/officeDocument/2006/relationships/font" Target="fonts/InterMedium-boldItalic.fntdata"/><Relationship Id="rId16" Type="http://schemas.openxmlformats.org/officeDocument/2006/relationships/slide" Target="slides/slide10.xml"/><Relationship Id="rId38" Type="http://schemas.openxmlformats.org/officeDocument/2006/relationships/font" Target="fonts/InterMedium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2" name="Google Shape;16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4" name="Google Shape;184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3" name="Google Shape;223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7" name="Google Shape;247;p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8" name="Google Shape;268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0" name="Google Shape;28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5" name="Google Shape;29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6" name="Google Shape;316;p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7.png"/><Relationship Id="rId4" Type="http://schemas.openxmlformats.org/officeDocument/2006/relationships/image" Target="../media/image4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10" Type="http://schemas.openxmlformats.org/officeDocument/2006/relationships/image" Target="../media/image22.png"/><Relationship Id="rId9" Type="http://schemas.openxmlformats.org/officeDocument/2006/relationships/image" Target="../media/image15.png"/><Relationship Id="rId5" Type="http://schemas.openxmlformats.org/officeDocument/2006/relationships/image" Target="../media/image46.png"/><Relationship Id="rId6" Type="http://schemas.openxmlformats.org/officeDocument/2006/relationships/image" Target="../media/image6.png"/><Relationship Id="rId7" Type="http://schemas.openxmlformats.org/officeDocument/2006/relationships/image" Target="../media/image50.png"/><Relationship Id="rId8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13.png"/><Relationship Id="rId9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26.png"/><Relationship Id="rId7" Type="http://schemas.openxmlformats.org/officeDocument/2006/relationships/image" Target="../media/image18.png"/><Relationship Id="rId8" Type="http://schemas.openxmlformats.org/officeDocument/2006/relationships/image" Target="../media/image3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16.png"/><Relationship Id="rId9" Type="http://schemas.openxmlformats.org/officeDocument/2006/relationships/image" Target="../media/image35.png"/><Relationship Id="rId5" Type="http://schemas.openxmlformats.org/officeDocument/2006/relationships/image" Target="../media/image14.png"/><Relationship Id="rId6" Type="http://schemas.openxmlformats.org/officeDocument/2006/relationships/image" Target="../media/image27.png"/><Relationship Id="rId7" Type="http://schemas.openxmlformats.org/officeDocument/2006/relationships/image" Target="../media/image31.png"/><Relationship Id="rId8" Type="http://schemas.openxmlformats.org/officeDocument/2006/relationships/image" Target="../media/image1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39.png"/><Relationship Id="rId9" Type="http://schemas.openxmlformats.org/officeDocument/2006/relationships/image" Target="../media/image24.png"/><Relationship Id="rId5" Type="http://schemas.openxmlformats.org/officeDocument/2006/relationships/image" Target="../media/image44.png"/><Relationship Id="rId6" Type="http://schemas.openxmlformats.org/officeDocument/2006/relationships/image" Target="../media/image38.png"/><Relationship Id="rId7" Type="http://schemas.openxmlformats.org/officeDocument/2006/relationships/image" Target="../media/image23.png"/><Relationship Id="rId8" Type="http://schemas.openxmlformats.org/officeDocument/2006/relationships/image" Target="../media/image3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29.png"/><Relationship Id="rId9" Type="http://schemas.openxmlformats.org/officeDocument/2006/relationships/image" Target="../media/image30.png"/><Relationship Id="rId5" Type="http://schemas.openxmlformats.org/officeDocument/2006/relationships/image" Target="../media/image25.png"/><Relationship Id="rId6" Type="http://schemas.openxmlformats.org/officeDocument/2006/relationships/image" Target="../media/image33.png"/><Relationship Id="rId7" Type="http://schemas.openxmlformats.org/officeDocument/2006/relationships/image" Target="../media/image28.png"/><Relationship Id="rId8" Type="http://schemas.openxmlformats.org/officeDocument/2006/relationships/image" Target="../media/image4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40.png"/><Relationship Id="rId9" Type="http://schemas.openxmlformats.org/officeDocument/2006/relationships/image" Target="../media/image48.png"/><Relationship Id="rId5" Type="http://schemas.openxmlformats.org/officeDocument/2006/relationships/image" Target="../media/image45.png"/><Relationship Id="rId6" Type="http://schemas.openxmlformats.org/officeDocument/2006/relationships/image" Target="../media/image32.png"/><Relationship Id="rId7" Type="http://schemas.openxmlformats.org/officeDocument/2006/relationships/image" Target="../media/image42.png"/><Relationship Id="rId8" Type="http://schemas.openxmlformats.org/officeDocument/2006/relationships/image" Target="../media/image5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7.png"/><Relationship Id="rId4" Type="http://schemas.openxmlformats.org/officeDocument/2006/relationships/image" Target="../media/image4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5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41.png"/><Relationship Id="rId9" Type="http://schemas.openxmlformats.org/officeDocument/2006/relationships/image" Target="../media/image53.png"/><Relationship Id="rId5" Type="http://schemas.openxmlformats.org/officeDocument/2006/relationships/image" Target="../media/image43.png"/><Relationship Id="rId6" Type="http://schemas.openxmlformats.org/officeDocument/2006/relationships/image" Target="../media/image54.png"/><Relationship Id="rId7" Type="http://schemas.openxmlformats.org/officeDocument/2006/relationships/image" Target="../media/image56.png"/><Relationship Id="rId8" Type="http://schemas.openxmlformats.org/officeDocument/2006/relationships/image" Target="../media/image5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Relationship Id="rId4" Type="http://schemas.openxmlformats.org/officeDocument/2006/relationships/image" Target="../media/image35.png"/><Relationship Id="rId5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771525" y="2319337"/>
            <a:ext cx="8761095" cy="1381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50"/>
              <a:buFont typeface="Arial"/>
              <a:buNone/>
            </a:pPr>
            <a:r>
              <a:rPr b="1" i="0" lang="en-US" sz="4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Automating Document PDFs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with </a:t>
            </a:r>
            <a:r>
              <a:rPr b="1" i="0" lang="en-US" sz="4350" u="none" cap="none" strike="noStrike">
                <a:solidFill>
                  <a:srgbClr val="64FFDA"/>
                </a:solidFill>
                <a:latin typeface="Montserrat"/>
                <a:ea typeface="Montserrat"/>
                <a:cs typeface="Montserrat"/>
                <a:sym typeface="Montserrat"/>
              </a:rPr>
              <a:t>Excel and SAP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771525" y="3843337"/>
            <a:ext cx="83439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A portfolio project to reduce manual work in enterprise reporting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771525" y="4491037"/>
            <a:ext cx="952500" cy="47625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276177"/>
            <a:ext cx="5110162" cy="296287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276177"/>
            <a:ext cx="5110162" cy="296287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"/>
          <p:cNvSpPr txBox="1"/>
          <p:nvPr/>
        </p:nvSpPr>
        <p:spPr>
          <a:xfrm>
            <a:off x="1066800" y="2571452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The Manual Bottleneck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1066800" y="2942927"/>
            <a:ext cx="4519612" cy="10036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 many enterprise environments, engineers and SCM analysts must manually search, open, and review repetitive records inside legacy SAP GUI systems day in and day out.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6605587" y="2571452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The Operational Friction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6605587" y="2942927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Exporting PDFs individually and writing back tracking references is slow, dull, and prone to costly human typographical errors.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00175" y="4156174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Repeatedly opening SAP transactions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400175" y="4549973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Finding materials &amp; logs one-by-one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938962" y="390525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Hours wasted on mindless clicks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6938962" y="4299049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Risk of mismatched files &amp; missing logs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03" name="Google Shape;103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179986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57378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39290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4322861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From Manual Pages to One-Click PDF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3" name="Google Shape;11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078384"/>
            <a:ext cx="5110162" cy="333925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078384"/>
            <a:ext cx="5110162" cy="333925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3"/>
          <p:cNvSpPr txBox="1"/>
          <p:nvPr/>
        </p:nvSpPr>
        <p:spPr>
          <a:xfrm>
            <a:off x="1066800" y="2373659"/>
            <a:ext cx="4745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Natural-Language Iteration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1066800" y="2726084"/>
            <a:ext cx="45195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Leveraged advanced AI prompts (via Perplexity) to drastically accelerate structural development, design loops, and visual presentation: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6605587" y="2373659"/>
            <a:ext cx="4745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Strict Human Governance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6605587" y="2726084"/>
            <a:ext cx="45195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While AI acted as a highly competent development accelerator, all critical engineering choices remained 100% human-driven: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3"/>
          <p:cNvSpPr txBox="1"/>
          <p:nvPr/>
        </p:nvSpPr>
        <p:spPr>
          <a:xfrm>
            <a:off x="6832987" y="4271660"/>
            <a:ext cx="4290900" cy="10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"AI accelerated documentation, refactoring, and design iterations while all architecture decisions, debugging, SAP integration, testing, and final implementation remained my responsibility. 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1400175" y="364420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Sketched complex VBA error traps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1400175" y="399469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Formulated robust modular code logic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"/>
          <p:cNvSpPr txBox="1"/>
          <p:nvPr/>
        </p:nvSpPr>
        <p:spPr>
          <a:xfrm>
            <a:off x="1400175" y="434518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Re-iterated custom UI/UX design layouts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6938962" y="364420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Security &amp; local sanitization constraints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6938962" y="399469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Deep modular layout and API naming design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26" name="Google Shape;126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3668017"/>
            <a:ext cx="1905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4018508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66800" y="4368998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05587" y="366801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605587" y="4018508"/>
            <a:ext cx="1905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Development Style: AI-Assisted "Vibe Coding"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4"/>
          <p:cNvSpPr txBox="1"/>
          <p:nvPr/>
        </p:nvSpPr>
        <p:spPr>
          <a:xfrm>
            <a:off x="771525" y="2604789"/>
            <a:ext cx="536567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Quantified Impact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9" name="Google Shape;139;p4"/>
          <p:cNvGraphicFramePr/>
          <p:nvPr/>
        </p:nvGraphicFramePr>
        <p:xfrm>
          <a:off x="6310312" y="2347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{64E32462-33DC-4FDF-B0B4-B4D10464579B}</a:tableStyleId>
              </a:tblPr>
              <a:tblGrid>
                <a:gridCol w="1228725"/>
                <a:gridCol w="1840700"/>
                <a:gridCol w="2040725"/>
              </a:tblGrid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Operation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Before (Manual)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After (Automated)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Navigation</a:t>
                      </a:r>
                      <a:endParaRPr sz="1400" u="none" cap="none" strike="noStrike"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Slow SAP GUI inputs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Instant Macro automation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File Saving</a:t>
                      </a:r>
                      <a:endParaRPr sz="1400" u="none" cap="none" strike="noStrike"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"Save As" clicks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Automatic paths &amp; names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Logging</a:t>
                      </a:r>
                      <a:endParaRPr sz="1400" u="none" cap="none" strike="noStrike"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tracking entries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Auto-filled status logs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0" name="Google Shape;140;p4"/>
          <p:cNvSpPr txBox="1"/>
          <p:nvPr/>
        </p:nvSpPr>
        <p:spPr>
          <a:xfrm>
            <a:off x="1104900" y="2976264"/>
            <a:ext cx="4776900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Reduced Manual Effort: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75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Converts hours of repetitive manual document exporting into a single unattended batch execution.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1104900" y="3620988"/>
            <a:ext cx="4776787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Absolute Consistency: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Standardizes naming rules, folders, and outputs without human error.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1104900" y="4265711"/>
            <a:ext cx="4776787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Full Traceability: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Every exported file has an exact corresponding logged reference in the Master Excel Sheet.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6310312" y="2819102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7539037" y="2819102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9379743" y="2819102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6310312" y="3597175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7539037" y="3597175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9379743" y="3597175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6310312" y="4375249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7539037" y="4375249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9379743" y="4375249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6310312" y="5153322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7539037" y="5153322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9379743" y="5153322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5" name="Google Shape;155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300007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6448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4289524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Business Value &amp; Benefits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4" name="Google Shape;16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109489"/>
            <a:ext cx="5110162" cy="32962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109489"/>
            <a:ext cx="5110162" cy="329624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5"/>
          <p:cNvSpPr txBox="1"/>
          <p:nvPr/>
        </p:nvSpPr>
        <p:spPr>
          <a:xfrm>
            <a:off x="1066800" y="2404764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Master Parameter Sheet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1066800" y="2776239"/>
            <a:ext cx="4519612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clean, structured Excel dashboard serves as the central control tower for the entire program execution: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6605587" y="2404764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Behind-The-Scenes Loop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6605587" y="2776239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When the user triggers the macro, Excel runs a background automation script that directly navigates the SAP GUI in real-time.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6605587" y="3786187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PDFs are seamlessly structured and generated directly inside the PC's designated local folders while the operator stays focused on higher-value analysis.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1400175" y="3535263"/>
            <a:ext cx="41862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A: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Material ID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1400175" y="3929062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B: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Raw parameters or descriptors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1400175" y="4322861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C: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Auto-logged Status (Created / N/A / Error)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1400175" y="471666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D: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Exported Document ID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76" name="Google Shape;176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355907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952875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66800" y="4346674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66800" y="4740473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5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It Looks in Practice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6" name="Google Shape;18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10312" y="1747837"/>
            <a:ext cx="5110162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6"/>
          <p:cNvSpPr txBox="1"/>
          <p:nvPr/>
        </p:nvSpPr>
        <p:spPr>
          <a:xfrm>
            <a:off x="771525" y="2341364"/>
            <a:ext cx="5365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Chronological Action Pipeline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6"/>
          <p:cNvSpPr txBox="1"/>
          <p:nvPr/>
        </p:nvSpPr>
        <p:spPr>
          <a:xfrm>
            <a:off x="771525" y="2693789"/>
            <a:ext cx="51102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unified workflow connecting Excel interfaces, SAP mainframes, and the local Windows OS environment: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6"/>
          <p:cNvSpPr txBox="1"/>
          <p:nvPr/>
        </p:nvSpPr>
        <p:spPr>
          <a:xfrm>
            <a:off x="1104900" y="3280469"/>
            <a:ext cx="477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Read: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Parses raw material lists from Column B.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1104900" y="3630959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Navigate: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Directs SAP screens to open specific PDF/Document links.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1104900" y="4217640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Automate: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Intercepts Windows Save Dialogs to input file names automatically.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6"/>
          <p:cNvSpPr txBox="1"/>
          <p:nvPr/>
        </p:nvSpPr>
        <p:spPr>
          <a:xfrm>
            <a:off x="1104900" y="4804320"/>
            <a:ext cx="477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Log: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Updates Columns C &amp; D with status logs and document IDs.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94" name="Google Shape;194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304282"/>
            <a:ext cx="857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3654772"/>
            <a:ext cx="1143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4241452"/>
            <a:ext cx="1143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7" name="Google Shape;197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71525" y="4828133"/>
            <a:ext cx="1333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Macro Workflow: From Excel to Local Storage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 txBox="1"/>
          <p:nvPr/>
        </p:nvSpPr>
        <p:spPr>
          <a:xfrm>
            <a:off x="771525" y="6467475"/>
            <a:ext cx="452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Conceptual workflow built in Canva; no real SAP screens or company data exposed.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1" name="Google Shape;201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286500" y="2162175"/>
            <a:ext cx="5133975" cy="3309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6" name="Google Shape;20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00550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29575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7"/>
          <p:cNvSpPr txBox="1"/>
          <p:nvPr/>
        </p:nvSpPr>
        <p:spPr>
          <a:xfrm>
            <a:off x="946785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Excel Engine (VBA)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7"/>
          <p:cNvSpPr txBox="1"/>
          <p:nvPr/>
        </p:nvSpPr>
        <p:spPr>
          <a:xfrm>
            <a:off x="1019175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Designed using Visual Basic for Applications to parse target document pools, handle logical branching, and write back execution statuses.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 txBox="1"/>
          <p:nvPr/>
        </p:nvSpPr>
        <p:spPr>
          <a:xfrm>
            <a:off x="4575810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SAP GUI Scripting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7"/>
          <p:cNvSpPr txBox="1"/>
          <p:nvPr/>
        </p:nvSpPr>
        <p:spPr>
          <a:xfrm>
            <a:off x="4648200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Interfaces directly with SAP's native Scripting API, enabling the Excel macro to programmatically control standard screens, grids, and tabs.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8204835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Windows OS API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8277225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Utilizes low-level Windows API commands to capture print-to-PDF save prompts, auto-typing destination file paths without manual clicking.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6" name="Google Shape;216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324100" y="2828925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57875" y="2828925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8" name="Google Shape;218;p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10712" y="2828925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7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It Was Built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5" name="Google Shape;22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6" name="Google Shape;22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81387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250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01112" y="2747069"/>
            <a:ext cx="2519362" cy="200203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8"/>
          <p:cNvSpPr txBox="1"/>
          <p:nvPr/>
        </p:nvSpPr>
        <p:spPr>
          <a:xfrm>
            <a:off x="990600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modMain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8"/>
          <p:cNvSpPr txBox="1"/>
          <p:nvPr/>
        </p:nvSpPr>
        <p:spPr>
          <a:xfrm>
            <a:off x="933000" y="3756725"/>
            <a:ext cx="23004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The control hub. Handles loop bounds, coordinates input datasets, maps target arrays, and initiates core run sequences.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8"/>
          <p:cNvSpPr txBox="1"/>
          <p:nvPr/>
        </p:nvSpPr>
        <p:spPr>
          <a:xfrm>
            <a:off x="3700462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modSAP_Helpers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8"/>
          <p:cNvSpPr txBox="1"/>
          <p:nvPr/>
        </p:nvSpPr>
        <p:spPr>
          <a:xfrm>
            <a:off x="3700462" y="375671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Establishes SAP session hooks, manipulates text grids, triggers script transactions, and safely checks active windows.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 txBox="1"/>
          <p:nvPr/>
        </p:nvSpPr>
        <p:spPr>
          <a:xfrm>
            <a:off x="6410325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modWinAPI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8"/>
          <p:cNvSpPr txBox="1"/>
          <p:nvPr/>
        </p:nvSpPr>
        <p:spPr>
          <a:xfrm>
            <a:off x="6410325" y="375671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Employs FindWindow and low-level SendKeys API to bypass print dialog prompts, forcing path entry and saving.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8"/>
          <p:cNvSpPr txBox="1"/>
          <p:nvPr/>
        </p:nvSpPr>
        <p:spPr>
          <a:xfrm>
            <a:off x="9120187" y="345191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modCore_Workflow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8"/>
          <p:cNvSpPr txBox="1"/>
          <p:nvPr/>
        </p:nvSpPr>
        <p:spPr>
          <a:xfrm>
            <a:off x="9120187" y="375671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Implements core business logic rules, text parsing algorithms, directory verification, and cell update logs.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38" name="Google Shape;238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90600" y="2994719"/>
            <a:ext cx="3619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9" name="Google Shape;239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700462" y="2994719"/>
            <a:ext cx="3619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0" name="Google Shape;240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10325" y="2994719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1" name="Google Shape;241;p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120187" y="2994719"/>
            <a:ext cx="3619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8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Module Architecture: Structured VBA Codebase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 txBox="1"/>
          <p:nvPr/>
        </p:nvSpPr>
        <p:spPr>
          <a:xfrm>
            <a:off x="771525" y="6467475"/>
            <a:ext cx="4781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Clean, modular VBA that can be completely reused for similar SAP-Excel PDF workflows.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9" name="Google Shape;24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9"/>
          <p:cNvSpPr txBox="1"/>
          <p:nvPr/>
        </p:nvSpPr>
        <p:spPr>
          <a:xfrm>
            <a:off x="771525" y="1868983"/>
            <a:ext cx="5365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Preventing "Server Busy" Deadlocks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9"/>
          <p:cNvSpPr txBox="1"/>
          <p:nvPr/>
        </p:nvSpPr>
        <p:spPr>
          <a:xfrm>
            <a:off x="771525" y="2221408"/>
            <a:ext cx="51102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Bypassing standard Windows timeout barriers during slow SAP database queries: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9"/>
          <p:cNvSpPr txBox="1"/>
          <p:nvPr/>
        </p:nvSpPr>
        <p:spPr>
          <a:xfrm>
            <a:off x="1104900" y="2808089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Bottleneck: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Database delays or network latency when retrieving PDFs blocks Excel's synchronous execution thread.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9"/>
          <p:cNvSpPr txBox="1"/>
          <p:nvPr/>
        </p:nvSpPr>
        <p:spPr>
          <a:xfrm>
            <a:off x="1104900" y="3394769"/>
            <a:ext cx="4776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OLE Trigger: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If Excel blocks for over 30 seconds, Windows forces a modal alert: </a:t>
            </a:r>
            <a:r>
              <a:rPr b="0" i="1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"Microsoft Excel is waiting for another application…"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, freezing the unattended script.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9"/>
          <p:cNvSpPr txBox="1"/>
          <p:nvPr/>
        </p:nvSpPr>
        <p:spPr>
          <a:xfrm>
            <a:off x="1104900" y="4217640"/>
            <a:ext cx="4776900" cy="10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Solution: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Implemented Windows API–based dialog detection to automatically handle native OLE and "Save As PDF" dialogs, enabling reliable unattended SAP document exports despite Windows modal dialogs.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9"/>
          <p:cNvSpPr txBox="1"/>
          <p:nvPr/>
        </p:nvSpPr>
        <p:spPr>
          <a:xfrm>
            <a:off x="1104900" y="5346709"/>
            <a:ext cx="4776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Instant Auto-Enter: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Detects and automatically dismisses the Windows OLE dialog when it appears before the "Save As PDF" dialog, preventing the unattended automation from stalling.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6" name="Google Shape;25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831901"/>
            <a:ext cx="1333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7" name="Google Shape;257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41858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8" name="Google Shape;25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424145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5370522"/>
            <a:ext cx="1905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9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Technical Challenge: OLE Dialogs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 txBox="1"/>
          <p:nvPr/>
        </p:nvSpPr>
        <p:spPr>
          <a:xfrm>
            <a:off x="771525" y="6467475"/>
            <a:ext cx="7029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Implemented Windows API polling to automatically detect and dismiss OLE dialogs during unattended SAP automation.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3" name="Google Shape;263;p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160275" y="1939576"/>
            <a:ext cx="5410200" cy="2114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336613" y="4662651"/>
            <a:ext cx="3114675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9"/>
          <p:cNvSpPr/>
          <p:nvPr/>
        </p:nvSpPr>
        <p:spPr>
          <a:xfrm>
            <a:off x="9451300" y="3750751"/>
            <a:ext cx="1947900" cy="1883400"/>
          </a:xfrm>
          <a:prstGeom prst="bentUpArrow">
            <a:avLst>
              <a:gd fmla="val 25000" name="adj1"/>
              <a:gd fmla="val 25000" name="adj2"/>
              <a:gd fmla="val 25000" name="adj3"/>
            </a:avLst>
          </a:prstGeom>
          <a:solidFill>
            <a:srgbClr val="FF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“Auto-press”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pop up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0" name="Google Shape;27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5975" y="45975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1" name="Google Shape;27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28912"/>
            <a:ext cx="4259460" cy="215265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10"/>
          <p:cNvSpPr txBox="1"/>
          <p:nvPr/>
        </p:nvSpPr>
        <p:spPr>
          <a:xfrm>
            <a:off x="1162050" y="3119437"/>
            <a:ext cx="34785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0"/>
              <a:buFont typeface="Arial"/>
              <a:buNone/>
            </a:pPr>
            <a:r>
              <a:rPr b="1" i="0" lang="en-US" sz="8250" u="none" cap="none" strike="noStrike">
                <a:solidFill>
                  <a:srgbClr val="64FFDA"/>
                </a:solidFill>
                <a:latin typeface="Montserrat"/>
                <a:ea typeface="Montserrat"/>
                <a:cs typeface="Montserrat"/>
                <a:sym typeface="Montserrat"/>
              </a:rPr>
              <a:t>80%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0"/>
          <p:cNvSpPr txBox="1"/>
          <p:nvPr/>
        </p:nvSpPr>
        <p:spPr>
          <a:xfrm>
            <a:off x="1162050" y="4262437"/>
            <a:ext cx="3478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Operational Time Saved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0"/>
          <p:cNvSpPr txBox="1"/>
          <p:nvPr/>
        </p:nvSpPr>
        <p:spPr>
          <a:xfrm>
            <a:off x="5507235" y="2757487"/>
            <a:ext cx="6684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Reduced manual processing time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0"/>
          <p:cNvSpPr txBox="1"/>
          <p:nvPr/>
        </p:nvSpPr>
        <p:spPr>
          <a:xfrm>
            <a:off x="5507235" y="3195637"/>
            <a:ext cx="6389400" cy="15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typical PDF exporting task via SAP can take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●"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Manual efforts - 3 minutes * 1000 PDFs = 50 hours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●"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Automation script - 30 seconds * 1000 PDFs = 8.3 hours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➢"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 this case, it saves about 83% of the time ❗ 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6" name="Google Shape;276;p10"/>
          <p:cNvSpPr txBox="1"/>
          <p:nvPr/>
        </p:nvSpPr>
        <p:spPr>
          <a:xfrm>
            <a:off x="962025" y="581025"/>
            <a:ext cx="1098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System Impact Metrics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0"/>
          <p:cNvSpPr/>
          <p:nvPr/>
        </p:nvSpPr>
        <p:spPr>
          <a:xfrm>
            <a:off x="771525" y="581025"/>
            <a:ext cx="47700" cy="4668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2" name="Google Shape;28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11"/>
          <p:cNvSpPr txBox="1"/>
          <p:nvPr/>
        </p:nvSpPr>
        <p:spPr>
          <a:xfrm>
            <a:off x="2143125" y="2468165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Advanced VBA &amp; Excel Architectures: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Building reliable, resilient macros that manipulate enterprise datasets cleanly and efficiently.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1"/>
          <p:cNvSpPr txBox="1"/>
          <p:nvPr/>
        </p:nvSpPr>
        <p:spPr>
          <a:xfrm>
            <a:off x="2143125" y="3112889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ERP System Automation: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Gaining deep practical scripting expertise with legacy ERP systems (SAP), overcoming interface constraints.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1"/>
          <p:cNvSpPr txBox="1"/>
          <p:nvPr/>
        </p:nvSpPr>
        <p:spPr>
          <a:xfrm>
            <a:off x="2143125" y="3757612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Process &amp; System Design: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Analyzing real-world human bottlenecks and translating them into reliable, repeatable software solutions.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1"/>
          <p:cNvSpPr txBox="1"/>
          <p:nvPr/>
        </p:nvSpPr>
        <p:spPr>
          <a:xfrm>
            <a:off x="2143125" y="4402335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Clean &amp; Modular Codebase: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Organizing codebase structures into isolated logical modules for easy maintenance, extension, and deployment.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7" name="Google Shape;287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2491978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8" name="Google Shape;288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3136701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9" name="Google Shape;28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3781425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0" name="Google Shape;29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4426148"/>
            <a:ext cx="2190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11"/>
          <p:cNvSpPr txBox="1"/>
          <p:nvPr/>
        </p:nvSpPr>
        <p:spPr>
          <a:xfrm>
            <a:off x="942975" y="485775"/>
            <a:ext cx="11001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Demonstrated Aspects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7" name="Google Shape;29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8" name="Google Shape;298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377826"/>
            <a:ext cx="5110162" cy="2759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9" name="Google Shape;29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377826"/>
            <a:ext cx="5110162" cy="2759571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12"/>
          <p:cNvSpPr txBox="1"/>
          <p:nvPr/>
        </p:nvSpPr>
        <p:spPr>
          <a:xfrm>
            <a:off x="1066800" y="2673101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System Scaling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2"/>
          <p:cNvSpPr txBox="1"/>
          <p:nvPr/>
        </p:nvSpPr>
        <p:spPr>
          <a:xfrm>
            <a:off x="1066800" y="3044576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The code architecture is modularly decoupled, meaning it can be expanded to automate other core business procedures: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2"/>
          <p:cNvSpPr txBox="1"/>
          <p:nvPr/>
        </p:nvSpPr>
        <p:spPr>
          <a:xfrm>
            <a:off x="6605587" y="2673101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Advanced 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2"/>
          <p:cNvSpPr txBox="1"/>
          <p:nvPr/>
        </p:nvSpPr>
        <p:spPr>
          <a:xfrm>
            <a:off x="6605587" y="3044576"/>
            <a:ext cx="4519612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Future development phases can add enterprise-grade reliability and communication protocols: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2"/>
          <p:cNvSpPr txBox="1"/>
          <p:nvPr/>
        </p:nvSpPr>
        <p:spPr>
          <a:xfrm>
            <a:off x="1400175" y="4054524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Expanding to sales orders, shipments, and billing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2"/>
          <p:cNvSpPr txBox="1"/>
          <p:nvPr/>
        </p:nvSpPr>
        <p:spPr>
          <a:xfrm>
            <a:off x="1400175" y="4448323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Direct cloud / Document Management system sync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2"/>
          <p:cNvSpPr txBox="1"/>
          <p:nvPr/>
        </p:nvSpPr>
        <p:spPr>
          <a:xfrm>
            <a:off x="6938962" y="380360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Enhanced real-time error logging &amp; fail-safes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 txBox="1"/>
          <p:nvPr/>
        </p:nvSpPr>
        <p:spPr>
          <a:xfrm>
            <a:off x="6938962" y="4197399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Windows system dialog or Teams status triggers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08" name="Google Shape;308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0783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9" name="Google Shape;309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4472136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38274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1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05587" y="4221212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12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Where This Can Go Next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2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8" name="Google Shape;31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0125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13"/>
          <p:cNvSpPr txBox="1"/>
          <p:nvPr/>
        </p:nvSpPr>
        <p:spPr>
          <a:xfrm>
            <a:off x="2777063" y="2006794"/>
            <a:ext cx="955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https://media.licdn.com/dms/image/v2/C4E12AQF8fb_Io9YHyA/article-cover_image-shrink_720_1280/article-cover_image-shrink_720_1280/0/1643913705813?e=2147483647&amp;v=beta&amp;t=SoCBKCyrgtjpmqvXqlk6dfCST0lafo6-SdMPMxve7hM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3"/>
          <p:cNvSpPr txBox="1"/>
          <p:nvPr/>
        </p:nvSpPr>
        <p:spPr>
          <a:xfrm>
            <a:off x="2777025" y="2482334"/>
            <a:ext cx="9553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Source: https://media.licdn.com/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3"/>
          <p:cNvSpPr txBox="1"/>
          <p:nvPr/>
        </p:nvSpPr>
        <p:spPr>
          <a:xfrm>
            <a:off x="962025" y="581025"/>
            <a:ext cx="1098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Image Sources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3"/>
          <p:cNvSpPr/>
          <p:nvPr/>
        </p:nvSpPr>
        <p:spPr>
          <a:xfrm>
            <a:off x="771525" y="581025"/>
            <a:ext cx="47700" cy="4668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3" name="Google Shape;32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2925" y="1922999"/>
            <a:ext cx="1650699" cy="862475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3"/>
          <p:cNvSpPr txBox="1"/>
          <p:nvPr/>
        </p:nvSpPr>
        <p:spPr>
          <a:xfrm>
            <a:off x="2777063" y="3593319"/>
            <a:ext cx="9553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https://support.central.insightsoftware.com/support/servlet/rtaImage?eid=ka0UO000000IZjx&amp;feoid=00Nf400000PcwAL&amp;refid=0EMf4000001Jb5w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3"/>
          <p:cNvSpPr txBox="1"/>
          <p:nvPr/>
        </p:nvSpPr>
        <p:spPr>
          <a:xfrm>
            <a:off x="2777025" y="4068859"/>
            <a:ext cx="9553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Source: https://support.central.insightsoftware.com/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6" name="Google Shape;32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42923" y="3593322"/>
            <a:ext cx="1650700" cy="6451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