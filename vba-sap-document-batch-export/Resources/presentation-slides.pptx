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hyiUhKV9Ty1C/g/PphhfG7cEad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95C02A-70E6-4CEF-ACC8-0583C205ED59}">
  <a:tblStyle styleId="{7D95C02A-70E6-4CEF-ACC8-0583C205ED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42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9" Type="http://schemas.openxmlformats.org/officeDocument/2006/relationships/image" Target="../media/image26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49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Relationship Id="rId9" Type="http://schemas.openxmlformats.org/officeDocument/2006/relationships/image" Target="../media/image32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28.png"/><Relationship Id="rId8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4.png"/><Relationship Id="rId10" Type="http://schemas.openxmlformats.org/officeDocument/2006/relationships/image" Target="../media/image50.png"/><Relationship Id="rId9" Type="http://schemas.openxmlformats.org/officeDocument/2006/relationships/image" Target="../media/image46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Relationship Id="rId6" Type="http://schemas.openxmlformats.org/officeDocument/2006/relationships/image" Target="../media/image41.png"/><Relationship Id="rId7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48.png"/><Relationship Id="rId9" Type="http://schemas.openxmlformats.org/officeDocument/2006/relationships/image" Target="../media/image54.png"/><Relationship Id="rId5" Type="http://schemas.openxmlformats.org/officeDocument/2006/relationships/image" Target="../media/image47.png"/><Relationship Id="rId6" Type="http://schemas.openxmlformats.org/officeDocument/2006/relationships/image" Target="../media/image43.png"/><Relationship Id="rId7" Type="http://schemas.openxmlformats.org/officeDocument/2006/relationships/image" Target="../media/image53.png"/><Relationship Id="rId8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27.pn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771525" y="2319337"/>
            <a:ext cx="876109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Automating Document PDFs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b="1" i="0" lang="en-US" sz="43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Excel and 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71525" y="3843337"/>
            <a:ext cx="8343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 portfolio project to reduce manual work in enterprise reporting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71525" y="4491037"/>
            <a:ext cx="952500" cy="476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1066800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Manual Bottleneck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066800" y="2942927"/>
            <a:ext cx="4519612" cy="100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many enterprise environments, engineers and SCM analysts must manually search, open, and review repetitive records inside legacy SAP GUI systems day in and day 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605587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Operational Friction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605587" y="294292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Exporting PDFs individually and writing back tracking references is slow, dull, and prone to costly human typographical errors.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400175" y="415617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Repeatedly opening SAP transactions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400175" y="454997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Finding materials &amp; logs one-by-one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938962" y="390525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Hours wasted on mindless clicks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938962" y="429904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Risk of mismatched files &amp; missing logs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17998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573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3929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432286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Manual Pages to One-Click 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066800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Natural-Language Iteration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066800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Leveraged advanced AI prompts (via Perplexity) to drastically accelerate structural development, design loops, and visual presentation: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6605587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Engineering Ownership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605587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While AI acted as a highly competent development accelerator, all critical engineering choices remained 100% human-driven: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832987" y="4271660"/>
            <a:ext cx="42909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"AI accelerated documentation, refactoring, and design iterations while all architecture decisions, debugging, SAP integration, testing, and final implementation remained my responsibility. 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400175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Sketched complex VBA error traps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400175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Formulated robust modular code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400175" y="434518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Re-iterated custom UI/UX design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938962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Security &amp; local sanitization constraints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938962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Deep modular layout and API naming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6" name="Google Shape;1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66801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01850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6899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366801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05587" y="4018508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Development Style: AI-Assisted "Vibe Coding"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771525" y="2604789"/>
            <a:ext cx="5365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Quantified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p4"/>
          <p:cNvGraphicFramePr/>
          <p:nvPr/>
        </p:nvGraphicFramePr>
        <p:xfrm>
          <a:off x="6310312" y="2347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{7D95C02A-70E6-4CEF-ACC8-0583C205ED59}</a:tableStyleId>
              </a:tblPr>
              <a:tblGrid>
                <a:gridCol w="1228725"/>
                <a:gridCol w="1840700"/>
                <a:gridCol w="2040725"/>
              </a:tblGrid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Before (Manual)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After (Automated)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Navigation</a:t>
                      </a:r>
                      <a:endParaRPr sz="1400" u="none" cap="none" strike="noStrike"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Slow SAP GUI inputs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Instant Macro automation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File Saving</a:t>
                      </a:r>
                      <a:endParaRPr sz="1400" u="none" cap="none" strike="noStrike"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"Save As" clicks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Automatic paths &amp; names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Logging</a:t>
                      </a:r>
                      <a:endParaRPr sz="1400" u="none" cap="none" strike="noStrike"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tracking entries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Auto-filled status logs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4"/>
          <p:cNvSpPr txBox="1"/>
          <p:nvPr/>
        </p:nvSpPr>
        <p:spPr>
          <a:xfrm>
            <a:off x="1104900" y="2976264"/>
            <a:ext cx="4776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Reduced Manual Effort: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Converts hours of repetitive manual document exporting into a single unattended batch execution.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104900" y="3620988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Absolute Consistency: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Standardizes naming rules, folders, and outputs without human error.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1104900" y="4265711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Traceability: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Every exported file has an exact corresponding logged reference in the Master Excel Sheet.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310312" y="281910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539037" y="281910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9379743" y="281910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310312" y="3597175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539037" y="3597175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379743" y="3597175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310312" y="4375249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539037" y="4375249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379743" y="4375249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310312" y="515332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539037" y="515332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9379743" y="515332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0007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644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89524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Value &amp; Benefits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1066800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Master Parameter Sheet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1066800" y="2776239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clean, structured Excel dashboard serves as the central control tower for the entire program execution: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6605587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Behind-The-Scenes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6605587" y="2776239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When the user triggers the macro, Excel runs a background automation script that directly navigates the SAP GUI in real-time.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605587" y="378618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PDFs are seamlessly structured and generated directly inside the PC's designated local folders while the operator stays focused on higher-value analysis.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400175" y="3535263"/>
            <a:ext cx="418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A: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Material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1400175" y="3929062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B: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Raw parameters or descriptors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1400175" y="4322861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C: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Auto-logged Status (Created / N/A / Error)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400175" y="471666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D: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Exported Document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6" name="Google Shape;1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55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95287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4667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800" y="47404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Looks in 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1747837"/>
            <a:ext cx="5110162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771525" y="2341364"/>
            <a:ext cx="536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Chronological Action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771525" y="2693789"/>
            <a:ext cx="5110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unified workflow connecting Excel interfaces, SAP mainframes, and the local Windows OS environment: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1104900" y="3280469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Parses raw material lists from Column 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1104900" y="3630959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Navigate: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Directs SAP screens to open specific PDF/Document links.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1104900" y="4217640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Intercepts Windows Save Dialogs to input file names automatically.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104900" y="4804320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Updates Columns C &amp; D with status logs and document IDs.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4" name="Google Shape;19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0428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5477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24145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828133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Macro Workflow: From Excel to Local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771525" y="6467475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Conceptual workflow built in Canva; no real SAP screens or company data exposed.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2162175"/>
            <a:ext cx="5133975" cy="33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94678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Excel Engine (VBA)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01917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Designed using Visual Basic for Applications to parse target document pools, handle logical branching, and write back execution statuses.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4575810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SAP GUI Scripting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4648200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Interfaces directly with SAP's native Scripting API, enabling the Excel macro to programmatically control standard screens, grids, and tabs.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820483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Windows OS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827722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Utilizes low-level Windows API commands to capture print-to-PDF save prompts, auto-typing destination file paths without manual clicking.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6" name="Google Shape;21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4100" y="28289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289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0712" y="28289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Was Built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5850" y="1157743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6312" y="1157743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2100" y="369821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8862" y="3698219"/>
            <a:ext cx="2519362" cy="20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 txBox="1"/>
          <p:nvPr/>
        </p:nvSpPr>
        <p:spPr>
          <a:xfrm>
            <a:off x="1554925" y="1862593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1497325" y="2167399"/>
            <a:ext cx="23004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control hub. Handles loop bounds, coordinates input datasets, maps target arrays, and initiates core run sequences.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5055387" y="1862593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modSAP_Helpers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5055387" y="2167393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Establishes SAP session hooks, manipulates text grids, triggers script transactions, and safely checks active windows.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3261175" y="440306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modWinAPI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3261175" y="470786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Employs FindWindow and low-level SendKeys API to bypass print dialog prompts, forcing path entry and saving.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6917937" y="440306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modCore_Workflow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6917937" y="470786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Implements core business logic rules, text parsing algorithms, directory verification, and cell update logs.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8" name="Google Shape;23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4925" y="1405393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5387" y="1405393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61175" y="394586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17937" y="3945869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Module Architecture: Structured VBA Codebase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771525" y="6467475"/>
            <a:ext cx="478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Clean, modular VBA that can be completely reused for similar SAP-Excel PDF workflows.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5" name="Google Shape;2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787" y="1157744"/>
            <a:ext cx="2519362" cy="20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 txBox="1"/>
          <p:nvPr/>
        </p:nvSpPr>
        <p:spPr>
          <a:xfrm>
            <a:off x="8555862" y="1862594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</a:t>
            </a:r>
            <a:r>
              <a:rPr lang="en-US" sz="135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OLE_Shield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8555838" y="2167375"/>
            <a:ext cx="22494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Provides temporary OLE message handling during long-running SAP GUI automation to improve unattended execution.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5825" y="1376340"/>
            <a:ext cx="361950" cy="343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/>
        </p:nvSpPr>
        <p:spPr>
          <a:xfrm>
            <a:off x="771525" y="1868983"/>
            <a:ext cx="536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Preventing "Server Busy" Deadlocks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771525" y="2221408"/>
            <a:ext cx="5110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Bypassing standard Windows timeout barriers during slow SAP database queries: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1104900" y="2808089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Bottleneck: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Database delays or network latency when retrieving PDFs blocks Excel's synchronous execution thread.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1104900" y="3394769"/>
            <a:ext cx="47769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OLE Trigger: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If Excel blocks for over 30 seconds, Windows forces a modal alert: </a:t>
            </a:r>
            <a:r>
              <a:rPr b="0" i="1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"Microsoft Excel is waiting for another application…"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, freezing the unattended 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1104900" y="4217640"/>
            <a:ext cx="47769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Implemented Windows API–based dialog management to identify and dismiss the Windows OLE dialog before continuing unattended SAP automation.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9" name="Google Shape;2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31901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4185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4145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Challenge: OLE Dialogs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771525" y="6467475"/>
            <a:ext cx="7759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Implemented Windows AP</a:t>
            </a:r>
            <a:r>
              <a:rPr lang="en-US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I-based dialog</a:t>
            </a: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management </a:t>
            </a: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to detect and dismiss OLE dialogs during unattended SAP automation.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60275" y="1939576"/>
            <a:ext cx="54102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75" y="45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28912"/>
            <a:ext cx="425946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 txBox="1"/>
          <p:nvPr/>
        </p:nvSpPr>
        <p:spPr>
          <a:xfrm>
            <a:off x="1162050" y="3119437"/>
            <a:ext cx="3478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0"/>
              <a:buFont typeface="Arial"/>
              <a:buNone/>
            </a:pPr>
            <a:r>
              <a:rPr b="1" i="0" lang="en-US" sz="82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80%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1162050" y="4262437"/>
            <a:ext cx="347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Time 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5507235" y="2757487"/>
            <a:ext cx="66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Reduced manual processing time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5507235" y="3195637"/>
            <a:ext cx="63894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typical PDF exporting task via SAP can take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Manual efforts - 3 minutes * 1000 PDFs = 50 hours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Automation script - 30 seconds * 1000 PDFs = 8.3 hours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➢"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this case, it saves about 83% of the time ❗ 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Impact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 txBox="1"/>
          <p:nvPr/>
        </p:nvSpPr>
        <p:spPr>
          <a:xfrm>
            <a:off x="2143125" y="246816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VBA &amp; Excel Architectures: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Building reliable, resilient macros that manipulate enterprise datasets cleanly and efficiently.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2143125" y="3112889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ERP System Automation: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Gaining deep practical scripting expertise with legacy ERP systems (SAP), overcoming interface constraints.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2143125" y="3757612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 &amp; System Design: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Analyzing real-world human bottlenecks and translating them into reliable, repeatable software solutions.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2143125" y="4402335"/>
            <a:ext cx="82392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&amp; Modular Codebase: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Organizing codebase structures into isolated logical modules for easy maintenance, extension, and deployment.</a:t>
            </a:r>
            <a:endParaRPr b="0" i="0" sz="1275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lang="en-US" sz="127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Key Takeaway: </a:t>
            </a:r>
            <a:r>
              <a:rPr lang="en-US" sz="1275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Demonstrating how software engineering and process automation can eliminate repetitive work in enterprise operations without requiring modifications to existing ERP systems. </a:t>
            </a:r>
            <a:endParaRPr sz="1275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87" name="Google Shape;28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9197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3670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814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426148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 txBox="1"/>
          <p:nvPr/>
        </p:nvSpPr>
        <p:spPr>
          <a:xfrm>
            <a:off x="942975" y="485775"/>
            <a:ext cx="1100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Demonstrated Aspects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5070873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2"/>
          <p:cNvSpPr txBox="1"/>
          <p:nvPr/>
        </p:nvSpPr>
        <p:spPr>
          <a:xfrm>
            <a:off x="1066800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1066800" y="3044576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code architecture is modularly decoupled, meaning it can be expanded to automate other core business procedures: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6605587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Advanced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6605587" y="3044576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Future development phases can add enterprise-grade reliability and communication protocols: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1400175" y="405452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Expanding to sales orders, shipments, and billing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1400175" y="444832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Direct cloud / Document Management system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6938962" y="380360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Enhanced real-time error logging &amp; fail-safes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6938962" y="419739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Windows system dialog or Teams status triggers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9" name="Google Shape;30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078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47213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3827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42212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This Can Go 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3"/>
          <p:cNvSpPr txBox="1"/>
          <p:nvPr/>
        </p:nvSpPr>
        <p:spPr>
          <a:xfrm>
            <a:off x="2777063" y="2006794"/>
            <a:ext cx="955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https://media.licdn.com/dms/image/v2/C4E12AQF8fb_Io9YHyA/article-cover_image-shrink_720_1280/article-cover_image-shrink_720_1280/0/1643913705813?e=2147483647&amp;v=beta&amp;t=SoCBKCyrgtjpmqvXqlk6dfCST0lafo6-SdMPMxve7hM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2777025" y="2482334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https://media.licdn.com/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925" y="1922999"/>
            <a:ext cx="1650699" cy="8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 txBox="1"/>
          <p:nvPr/>
        </p:nvSpPr>
        <p:spPr>
          <a:xfrm>
            <a:off x="2777063" y="3593319"/>
            <a:ext cx="955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https://support.central.insightsoftware.com/support/servlet/rtaImage?eid=ka0UO000000IZjx&amp;feoid=00Nf400000PcwAL&amp;refid=0EMf4000001Jb5w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2777025" y="4068859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https://support.central.insightsoftware.com/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2923" y="3593322"/>
            <a:ext cx="1650700" cy="64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